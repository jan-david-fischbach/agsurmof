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2"/>
  </p:notesMasterIdLst>
  <p:sldIdLst>
    <p:sldId id="406" r:id="rId3"/>
    <p:sldId id="532" r:id="rId4"/>
    <p:sldId id="542" r:id="rId5"/>
    <p:sldId id="534" r:id="rId6"/>
    <p:sldId id="540" r:id="rId7"/>
    <p:sldId id="541" r:id="rId8"/>
    <p:sldId id="535" r:id="rId9"/>
    <p:sldId id="531" r:id="rId10"/>
    <p:sldId id="513" r:id="rId11"/>
    <p:sldId id="523" r:id="rId12"/>
    <p:sldId id="524" r:id="rId13"/>
    <p:sldId id="529" r:id="rId14"/>
    <p:sldId id="536" r:id="rId15"/>
    <p:sldId id="544" r:id="rId16"/>
    <p:sldId id="530" r:id="rId17"/>
    <p:sldId id="545" r:id="rId18"/>
    <p:sldId id="546" r:id="rId19"/>
    <p:sldId id="539" r:id="rId20"/>
    <p:sldId id="547" r:id="rId2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FF"/>
    <a:srgbClr val="FF0000"/>
    <a:srgbClr val="ED7D31"/>
    <a:srgbClr val="FE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327"/>
  </p:normalViewPr>
  <p:slideViewPr>
    <p:cSldViewPr snapToGrid="0">
      <p:cViewPr varScale="1">
        <p:scale>
          <a:sx n="97" d="100"/>
          <a:sy n="97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6DDC-EF38-A647-8528-D6E327CBB7CE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2B424-99DD-5743-965E-0448A8C97C8B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33218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80AD-23C4-38EB-C677-4E9236B0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774BD-6B3C-B480-D156-F947FF84A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81DF7-05A4-7FD6-07CA-6784BB61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specialize in exploring various optical systems such as core-shell particles and Fabry-</a:t>
            </a:r>
            <a:r>
              <a:rPr lang="en-GB" dirty="0" err="1"/>
              <a:t>Pérot</a:t>
            </a:r>
            <a:r>
              <a:rPr lang="en-GB" dirty="0"/>
              <a:t> cavities. To understand their optical properties, we begin by calculating parameters like reflection or absorption coefficients (for Fabry-</a:t>
            </a:r>
            <a:r>
              <a:rPr lang="en-GB" dirty="0" err="1"/>
              <a:t>Pérot</a:t>
            </a:r>
            <a:r>
              <a:rPr lang="en-GB" dirty="0"/>
              <a:t> cavities) or scattering and absorption coefficients as a function of parameters such as frequency. As a second step, we perform Eigenmode Analysis to interpret the results more comprehensively and gain deeper insights into the system's </a:t>
            </a:r>
            <a:r>
              <a:rPr lang="en-GB" dirty="0" err="1"/>
              <a:t>behavior</a:t>
            </a:r>
            <a:endParaRPr lang="en-GB" dirty="0"/>
          </a:p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A69B2-6D05-5D0F-7A17-B2690FE156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21B00-5EFD-4F50-5230-2870117CA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594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DA1D-7CA6-A6E3-4D11-C863E681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88AFD-5B32-AE5F-1B95-90EBBBB42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F7769-5362-A9B3-C7E2-2DCDDEBC4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specialize in exploring various optical systems such as core-shell particles and Fabry-</a:t>
            </a:r>
            <a:r>
              <a:rPr lang="en-GB" dirty="0" err="1"/>
              <a:t>Pérot</a:t>
            </a:r>
            <a:r>
              <a:rPr lang="en-GB" dirty="0"/>
              <a:t> cavities. To understand their optical properties, we begin by calculating parameters like reflection or absorption coefficients (for Fabry-</a:t>
            </a:r>
            <a:r>
              <a:rPr lang="en-GB" dirty="0" err="1"/>
              <a:t>Pérot</a:t>
            </a:r>
            <a:r>
              <a:rPr lang="en-GB" dirty="0"/>
              <a:t> cavities) or scattering and absorption coefficients as a function of parameters such as frequency. As a second step, we perform Eigenmode Analysis to interpret the results more comprehensively and gain deeper insights into the system's </a:t>
            </a:r>
            <a:r>
              <a:rPr lang="en-GB" dirty="0" err="1"/>
              <a:t>behavior</a:t>
            </a:r>
            <a:endParaRPr lang="en-GB" dirty="0"/>
          </a:p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34610-EC42-4E18-9871-C67AB42B74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D87F1-5257-A517-4A35-B03DAE4FF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056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1449-F7C9-5D9E-77AA-A06530EE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5003D-EA6A-6D42-71A6-F84187AC5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E50F3-8430-AB86-1318-A3161A6EA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AAC8F-8B19-CA17-3816-6C17CCFA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2B424-99DD-5743-965E-0448A8C97C8B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2629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2B424-99DD-5743-965E-0448A8C97C8B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47725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D27A6-3BDF-A1A6-B27E-04E76A80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3C12A-4B1D-8B75-0921-BC0DA5A6C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AF240-5B39-7C19-85E8-35C08E896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A32D6-D990-4979-D60B-83CFC2C79A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01991-9F86-D2B7-01F8-8CEE72D52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743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AE729-4932-96AE-8AAE-6B361896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B35A1-BE29-45F0-6774-7B9DD6A3C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D3A2E-98BA-6E19-9FE1-920642529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F409F-B852-97FC-8649-72AAE0FEB8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F6890-1CCC-BF09-E7B3-2C2A5CE88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134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4A51-0CB8-DDE8-31F1-DC2869B7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1ABA6-0D0F-8260-5C17-6C338A7F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82F42-F6F6-47D8-49FB-E580918A8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0EB56-B4D4-AF1D-3811-68D0D0DAB8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079AD-DCFE-E489-D67F-3FA3F1A56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143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A827-5C8D-972E-6102-9322E53A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CB914-F3C6-EDBC-3E9F-E78388194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E56CC-0F5B-00E4-1D4B-52DE842AA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A96E8-F878-5A36-9C27-37ED0D6460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1BA0F-1FCC-B326-BA25-10A40020C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964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6C37-41D0-288D-EA1F-85A4D99E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7D35C-4325-BF67-F765-28A669F4B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4DE88-E9C9-664E-43D0-EBA44D989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988A1-8306-98E0-7BC6-98BFDC4C68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CBB32-44FC-D43F-49E8-BB944A3A1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882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3286-6C99-A701-734B-8C62AF8C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B5468-C6B6-D891-925E-19C68C9CD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0CA01-CAA4-0067-B9D5-D0C5EB846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8B001-7E85-EA91-2A53-454A4EE97E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164B1-F154-64B5-5BFC-75B574925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6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F50-D7B9-CEE6-CA48-562556CF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4BD98-528E-8601-6DFF-C2376FA93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D6EF8-7D32-0AF4-1880-E63C5DF32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F514C-AF18-4D31-D465-35C0729D8A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2E4FE-B867-B371-8027-1681D12C4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8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D2D1-FA7C-F3AF-6E5B-9BC5E8F70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1970E-FB1D-034A-90BF-6E85726CC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CEDF7-27DD-EF76-8EE0-361A17BFF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9D82A-4F6A-ABD6-1D9E-FD3F9C6609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6E35D-0990-9236-E0CE-06286B83F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7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CB3-5C06-6634-AA16-A861AC68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41FCA-BF5E-E391-1DE7-DC09A66C3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829B2-AF00-359A-9042-34E597284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6B1E7-2EF2-430D-F0E6-3A73F71708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8C23C-8F71-DB48-D5BB-8105B0BE5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78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4740-020A-DE7C-9371-84F01D40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CC20-892C-09B6-C5F7-BF1697D61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CD882-01EE-4887-82BC-6577985A0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75D05-A05A-8486-21FF-03DEECF2A2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Sergei Gladyshev</a:t>
            </a:r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1BC25-07AA-1D53-E9B5-C3CA4D947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2A61D-AAF7-6D45-8F40-860B7FCAF303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85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F401-F29D-059B-FD81-A2C18D437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5015E-1B1F-D5D7-9520-CAEF4A78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655F5-FD09-05CD-3D33-A881CDB8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1822D-160A-5AFE-72C6-043C4E1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7FC1-1681-C46A-312A-CF010481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357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AB84-8A20-9AA2-1C3E-77B171A8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AC4D-9503-F759-EA55-EF4BBC9CB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6D45D-A7A6-132F-B711-18B76BBB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89E4-27B1-C7DF-451B-03BD157B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68359-D2A7-A87C-FB73-323C35D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7118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1E28-F17B-DB78-43A6-FB2D1CCCF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C1E13-6912-8895-F5D9-8AE5127D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A3FD2-B516-2532-C237-5B12F9B2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3CC13-1A79-3932-99A3-EA495B02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D2A14-0EDE-13DC-DAD3-A7C16F0F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4209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5BE0-EFDE-0EAE-26E2-EBFF1A9E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57AA0-7B69-CA54-C3D0-C2540388D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E580D-D3C3-D99A-7AB2-A841D8786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2A63E-1ED3-F310-8E0E-BD065843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61694-933D-25E2-76FE-15A7F4EB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2C5D9-5741-97DA-2289-2720EA86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1525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388F-7748-2EC2-FAB5-59A94654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1EEC-4A69-63B0-AE4A-DF0820617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4332F-14DE-4CC1-6700-483004F49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63A1D-CD32-8B43-E2FA-C13DCA347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F39CB-309A-F202-EA7A-99AD54C60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0D826-5BA7-8A50-D004-44B2534F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F027C-23E9-53B8-0327-A09FE7C8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9BBA4-F0BE-4E0C-C266-0BFDFC9C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6399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7204-0E95-5910-45A6-DB964C8B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81BFC-1AD8-5E8F-D497-902FFA8A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076-FA5B-A1E2-DF1A-37ECA7E0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F0218-116C-F5E2-174E-B7CDE7ED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958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8D5D1F-662B-7BC7-31E3-A9473DA2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46BA3-9F31-8954-4160-27232E0F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2A8B6-576E-2FCD-979D-2F6D7137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121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0FAC-E58E-C4A7-038C-712A1625D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BDC5-E635-26A4-5DF6-8193B6D4D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9CAFF-0BC5-822F-32AF-AF05BBADF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11DCC-1749-07E3-3C5C-7AEB8965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94C86-BF57-6D6C-B48A-7930EB22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DB48D-6B93-9D69-F436-825394D2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312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F02A9-A96D-33B5-AE63-897B82E5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58FB3-D211-DC61-6F75-B303E6E11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372E3-A206-5220-FB57-69ECF2FD7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E22B3-D593-096B-AB03-F8B61752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6DB41-5FA5-57AF-0428-6164B3F8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82E1E-514E-E75D-139A-943D5222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7433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93EB-18EC-E25E-C7C9-2E55F3CB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7710-D253-2CB0-FDE8-FBF3B7095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E9CD1-F773-8BB9-FC98-C4066D67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0C0AE-8F76-1E4E-70F3-BC35A295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D775-413F-CAB0-6B4B-0168CA93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568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D3C0A-86FA-EACC-BCBE-E04055104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85E3-4A5E-5B0D-22D4-270717A87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A46E-6832-CE45-F61B-A021D622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2E338-F1B7-F046-F1EB-8C38415D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5A36D-6D32-5736-DF38-16062539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686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folie Benutzerdefinie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23991" y="801439"/>
            <a:ext cx="8040141" cy="1326059"/>
          </a:xfrm>
          <a:prstGeom prst="rect">
            <a:avLst/>
          </a:prstGeom>
        </p:spPr>
        <p:txBody>
          <a:bodyPr anchor="b"/>
          <a:lstStyle>
            <a:lvl1pPr algn="l">
              <a:defRPr sz="4640" b="1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1123990" y="2306410"/>
            <a:ext cx="7295332" cy="2714625"/>
          </a:xfrm>
          <a:prstGeom prst="rect">
            <a:avLst/>
          </a:prstGeom>
        </p:spPr>
        <p:txBody>
          <a:bodyPr/>
          <a:lstStyle>
            <a:lvl1pPr algn="l">
              <a:defRPr sz="2812">
                <a:latin typeface="+mn-lt"/>
                <a:cs typeface="Times New Roman" panose="02020603050405020304" pitchFamily="18" charset="0"/>
              </a:defRPr>
            </a:lvl1pPr>
            <a:lvl2pPr algn="l">
              <a:defRPr sz="2812">
                <a:latin typeface="+mn-lt"/>
                <a:cs typeface="Times New Roman" panose="02020603050405020304" pitchFamily="18" charset="0"/>
              </a:defRPr>
            </a:lvl2pPr>
            <a:lvl3pPr algn="l">
              <a:defRPr sz="2812">
                <a:latin typeface="+mn-lt"/>
                <a:cs typeface="Times New Roman" panose="02020603050405020304" pitchFamily="18" charset="0"/>
              </a:defRPr>
            </a:lvl3pPr>
            <a:lvl4pPr algn="l">
              <a:defRPr sz="2812">
                <a:latin typeface="+mn-lt"/>
                <a:cs typeface="Times New Roman" panose="02020603050405020304" pitchFamily="18" charset="0"/>
              </a:defRPr>
            </a:lvl4pPr>
            <a:lvl5pPr algn="l">
              <a:defRPr sz="2812"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0C1493AC-0FC3-7B49-BBF1-A6074FFD6B54}"/>
              </a:ext>
            </a:extLst>
          </p:cNvPr>
          <p:cNvSpPr/>
          <p:nvPr/>
        </p:nvSpPr>
        <p:spPr>
          <a:xfrm>
            <a:off x="0" y="0"/>
            <a:ext cx="11559246" cy="7730509"/>
          </a:xfrm>
          <a:custGeom>
            <a:avLst/>
            <a:gdLst>
              <a:gd name="connsiteX0" fmla="*/ 14270106 w 16440318"/>
              <a:gd name="connsiteY0" fmla="*/ 0 h 10994501"/>
              <a:gd name="connsiteX1" fmla="*/ 16440318 w 16440318"/>
              <a:gd name="connsiteY1" fmla="*/ 0 h 10994501"/>
              <a:gd name="connsiteX2" fmla="*/ 16429222 w 16440318"/>
              <a:gd name="connsiteY2" fmla="*/ 438846 h 10994501"/>
              <a:gd name="connsiteX3" fmla="*/ 5315384 w 16440318"/>
              <a:gd name="connsiteY3" fmla="*/ 10994501 h 10994501"/>
              <a:gd name="connsiteX4" fmla="*/ 324342 w 16440318"/>
              <a:gd name="connsiteY4" fmla="*/ 9815197 h 10994501"/>
              <a:gd name="connsiteX5" fmla="*/ 0 w 16440318"/>
              <a:gd name="connsiteY5" fmla="*/ 9645013 h 10994501"/>
              <a:gd name="connsiteX6" fmla="*/ 0 w 16440318"/>
              <a:gd name="connsiteY6" fmla="*/ 7074221 h 10994501"/>
              <a:gd name="connsiteX7" fmla="*/ 374054 w 16440318"/>
              <a:gd name="connsiteY7" fmla="*/ 7339367 h 10994501"/>
              <a:gd name="connsiteX8" fmla="*/ 5315384 w 16440318"/>
              <a:gd name="connsiteY8" fmla="*/ 8824289 h 10994501"/>
              <a:gd name="connsiteX9" fmla="*/ 14261834 w 16440318"/>
              <a:gd name="connsiteY9" fmla="*/ 327167 h 109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0318" h="10994501">
                <a:moveTo>
                  <a:pt x="14270106" y="0"/>
                </a:moveTo>
                <a:lnTo>
                  <a:pt x="16440318" y="0"/>
                </a:lnTo>
                <a:lnTo>
                  <a:pt x="16429222" y="438846"/>
                </a:lnTo>
                <a:cubicBezTo>
                  <a:pt x="16131170" y="6318712"/>
                  <a:pt x="11269318" y="10994501"/>
                  <a:pt x="5315384" y="10994501"/>
                </a:cubicBezTo>
                <a:cubicBezTo>
                  <a:pt x="3520800" y="10994501"/>
                  <a:pt x="1825431" y="10569711"/>
                  <a:pt x="324342" y="9815197"/>
                </a:cubicBezTo>
                <a:lnTo>
                  <a:pt x="0" y="9645013"/>
                </a:lnTo>
                <a:lnTo>
                  <a:pt x="0" y="7074221"/>
                </a:lnTo>
                <a:lnTo>
                  <a:pt x="374054" y="7339367"/>
                </a:lnTo>
                <a:cubicBezTo>
                  <a:pt x="1790438" y="8277775"/>
                  <a:pt x="3489088" y="8824289"/>
                  <a:pt x="5315384" y="8824289"/>
                </a:cubicBezTo>
                <a:cubicBezTo>
                  <a:pt x="10108200" y="8824289"/>
                  <a:pt x="14021906" y="5060359"/>
                  <a:pt x="14261834" y="327167"/>
                </a:cubicBezTo>
                <a:close/>
              </a:path>
            </a:pathLst>
          </a:custGeom>
          <a:solidFill>
            <a:srgbClr val="FFD400">
              <a:alpha val="40000"/>
            </a:srgbClr>
          </a:solidFill>
          <a:ln w="317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716" tIns="25716" rIns="25716" bIns="25716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6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547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5FD9ECA3-D803-4D4D-B0B7-C49279AF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11" y="4938010"/>
            <a:ext cx="1904082" cy="162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991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4E1D-F608-06C4-29D7-C20925A5D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44F8F-27F9-46EF-E171-DB591AA7A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3BB9-AE96-70F0-93DD-B900DAA4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7A01-3E5C-4844-A930-44EFA90F488C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967D7-6FCE-120B-BF95-E7B16176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6197-47C6-DAA4-570A-0D9A74D3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17742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8ED2-46CB-08FF-8978-39DB2EFA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4C1C-0736-0A80-78BC-3E5194AEB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761C-41CD-CD02-1C99-3B68A56F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1E27C-18AC-224A-95D0-773A7C30BBEA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004C9-97B0-5E7F-0CD0-AD511801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8778-4C9E-B4F5-9CE6-539EAF8B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77648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6C90-D5E2-D032-AA79-E93211B6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86286-8A89-3D9A-B369-579FBF592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5452E-1CEE-135E-6AB1-AE0D0138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FA7A-9854-104B-AF1E-67914CBFF7AD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125B5-29D8-2DA2-C4B4-C34BD91E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B0AE-4B16-3F17-7899-83FCCB7D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0043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58D7-8067-775E-CE53-1D171A1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79AA-1AE5-02B6-AEFF-1393A0339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B71C9-D091-3AEE-FD5C-52034F89C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4B5B7-180F-8F8E-2923-FD01A995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3BF1-1A67-E044-8A6B-684D0AE6BB39}" type="datetime1">
              <a:rPr lang="ru-RU" smtClean="0"/>
              <a:t>07.05.2025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5A5FE-F81E-613D-D45F-1C19AC5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8292C-8442-2B3C-3B12-D63EC7BF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18291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2C33-1BB1-0671-8D0A-38D38C33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2ABE0-CD9D-1175-C518-70B2696C8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7A1BF-421D-A924-AA1F-00F31F678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7013E-A6DA-03B9-51C3-906F6C10B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EF11B-7225-E48F-A181-447CEDE28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00501-27DB-B5CC-FE2B-6C2F063E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4A77D-F833-724B-8F44-09945CB36413}" type="datetime1">
              <a:rPr lang="ru-RU" smtClean="0"/>
              <a:t>07.05.2025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82111-8262-A6C0-6940-D2D16411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3255D-3768-191A-0664-72DBDD61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1857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B0F7-329B-995B-38F1-DE8E56A8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DAFB6-550B-8C01-ABD1-09363591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7FCB1-2E81-E24F-9D05-8584559DA8A1}" type="datetime1">
              <a:rPr lang="ru-RU" smtClean="0"/>
              <a:t>07.05.2025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EBDE1-66E9-E392-7076-029022B5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D8771-8F3A-D54B-A0E5-CA7CDB5F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39394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810FE-7C63-93FE-EA90-53671024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F0C3E-770F-B14F-B019-A75CA4FFC271}" type="datetime1">
              <a:rPr lang="ru-RU" smtClean="0"/>
              <a:t>07.05.2025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AE915-1DDE-9D1E-6EB3-DF5A4E5C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A2E60-DDC2-1D41-88F3-8671189B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82717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CFA1-8F60-F72A-F2B7-8B2BAA68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2F76-F86F-0716-E6C4-F61698705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9549A-5634-B692-88B6-B790FC7B6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FE81F-9944-E6B0-DEAB-6FE0C4B8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FB8A4-E944-E844-87A2-9CFBA7F4BB9C}" type="datetime1">
              <a:rPr lang="ru-RU" smtClean="0"/>
              <a:t>07.05.2025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B6609-ADCA-D194-2F08-4F5BB63D9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46E26-310B-5808-A855-55410D0B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64998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6183-285B-91C2-B6C3-94958118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3ED381-720B-71A5-67C9-4D154FEFB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E96E1-9A92-39F0-6A8D-02E930855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46A21-00E4-E5BC-2925-62AB909A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8528-5A52-D144-8FEC-B929BF14A0B2}" type="datetime1">
              <a:rPr lang="ru-RU" smtClean="0"/>
              <a:t>07.05.2025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C32FD-A43C-5330-9E1C-590415E4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40D27-4666-670E-95F1-CE6CC87C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66505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546C-9E7E-7845-8510-8EE36220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D4037-199B-E1B9-898A-60DDAA2FB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E69F9-95D4-103E-30A6-15D35B3C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6163-2E1F-5141-83E4-10C3B2A4A98C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15C0-BC6B-89CD-F1CD-691DE483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751FA-29A4-1C76-BF8D-EE6CBF93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78432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8306F-2359-03F0-DE43-9581F869B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8842B-A6D5-06A7-6185-045079FCD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990D9-A90F-AE5B-DE44-CBE76679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63BF-D101-FB43-AEE5-4D4AF67715C3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9C604-EDF0-8F3C-7F6A-870043D8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016B-283E-4D24-99E3-C0FE0AE4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84261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folie Benutzerdefinie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23991" y="801439"/>
            <a:ext cx="8040141" cy="1326059"/>
          </a:xfrm>
          <a:prstGeom prst="rect">
            <a:avLst/>
          </a:prstGeom>
        </p:spPr>
        <p:txBody>
          <a:bodyPr anchor="b"/>
          <a:lstStyle>
            <a:lvl1pPr algn="l">
              <a:defRPr sz="4640" b="1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1123990" y="2306410"/>
            <a:ext cx="7295332" cy="2714625"/>
          </a:xfrm>
          <a:prstGeom prst="rect">
            <a:avLst/>
          </a:prstGeom>
        </p:spPr>
        <p:txBody>
          <a:bodyPr/>
          <a:lstStyle>
            <a:lvl1pPr algn="l">
              <a:defRPr sz="2812">
                <a:latin typeface="+mn-lt"/>
                <a:cs typeface="Times New Roman" panose="02020603050405020304" pitchFamily="18" charset="0"/>
              </a:defRPr>
            </a:lvl1pPr>
            <a:lvl2pPr algn="l">
              <a:defRPr sz="2812">
                <a:latin typeface="+mn-lt"/>
                <a:cs typeface="Times New Roman" panose="02020603050405020304" pitchFamily="18" charset="0"/>
              </a:defRPr>
            </a:lvl2pPr>
            <a:lvl3pPr algn="l">
              <a:defRPr sz="2812">
                <a:latin typeface="+mn-lt"/>
                <a:cs typeface="Times New Roman" panose="02020603050405020304" pitchFamily="18" charset="0"/>
              </a:defRPr>
            </a:lvl3pPr>
            <a:lvl4pPr algn="l">
              <a:defRPr sz="2812">
                <a:latin typeface="+mn-lt"/>
                <a:cs typeface="Times New Roman" panose="02020603050405020304" pitchFamily="18" charset="0"/>
              </a:defRPr>
            </a:lvl4pPr>
            <a:lvl5pPr algn="l">
              <a:defRPr sz="2812"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0C1493AC-0FC3-7B49-BBF1-A6074FFD6B54}"/>
              </a:ext>
            </a:extLst>
          </p:cNvPr>
          <p:cNvSpPr/>
          <p:nvPr/>
        </p:nvSpPr>
        <p:spPr>
          <a:xfrm>
            <a:off x="0" y="0"/>
            <a:ext cx="11559246" cy="7730509"/>
          </a:xfrm>
          <a:custGeom>
            <a:avLst/>
            <a:gdLst>
              <a:gd name="connsiteX0" fmla="*/ 14270106 w 16440318"/>
              <a:gd name="connsiteY0" fmla="*/ 0 h 10994501"/>
              <a:gd name="connsiteX1" fmla="*/ 16440318 w 16440318"/>
              <a:gd name="connsiteY1" fmla="*/ 0 h 10994501"/>
              <a:gd name="connsiteX2" fmla="*/ 16429222 w 16440318"/>
              <a:gd name="connsiteY2" fmla="*/ 438846 h 10994501"/>
              <a:gd name="connsiteX3" fmla="*/ 5315384 w 16440318"/>
              <a:gd name="connsiteY3" fmla="*/ 10994501 h 10994501"/>
              <a:gd name="connsiteX4" fmla="*/ 324342 w 16440318"/>
              <a:gd name="connsiteY4" fmla="*/ 9815197 h 10994501"/>
              <a:gd name="connsiteX5" fmla="*/ 0 w 16440318"/>
              <a:gd name="connsiteY5" fmla="*/ 9645013 h 10994501"/>
              <a:gd name="connsiteX6" fmla="*/ 0 w 16440318"/>
              <a:gd name="connsiteY6" fmla="*/ 7074221 h 10994501"/>
              <a:gd name="connsiteX7" fmla="*/ 374054 w 16440318"/>
              <a:gd name="connsiteY7" fmla="*/ 7339367 h 10994501"/>
              <a:gd name="connsiteX8" fmla="*/ 5315384 w 16440318"/>
              <a:gd name="connsiteY8" fmla="*/ 8824289 h 10994501"/>
              <a:gd name="connsiteX9" fmla="*/ 14261834 w 16440318"/>
              <a:gd name="connsiteY9" fmla="*/ 327167 h 109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0318" h="10994501">
                <a:moveTo>
                  <a:pt x="14270106" y="0"/>
                </a:moveTo>
                <a:lnTo>
                  <a:pt x="16440318" y="0"/>
                </a:lnTo>
                <a:lnTo>
                  <a:pt x="16429222" y="438846"/>
                </a:lnTo>
                <a:cubicBezTo>
                  <a:pt x="16131170" y="6318712"/>
                  <a:pt x="11269318" y="10994501"/>
                  <a:pt x="5315384" y="10994501"/>
                </a:cubicBezTo>
                <a:cubicBezTo>
                  <a:pt x="3520800" y="10994501"/>
                  <a:pt x="1825431" y="10569711"/>
                  <a:pt x="324342" y="9815197"/>
                </a:cubicBezTo>
                <a:lnTo>
                  <a:pt x="0" y="9645013"/>
                </a:lnTo>
                <a:lnTo>
                  <a:pt x="0" y="7074221"/>
                </a:lnTo>
                <a:lnTo>
                  <a:pt x="374054" y="7339367"/>
                </a:lnTo>
                <a:cubicBezTo>
                  <a:pt x="1790438" y="8277775"/>
                  <a:pt x="3489088" y="8824289"/>
                  <a:pt x="5315384" y="8824289"/>
                </a:cubicBezTo>
                <a:cubicBezTo>
                  <a:pt x="10108200" y="8824289"/>
                  <a:pt x="14021906" y="5060359"/>
                  <a:pt x="14261834" y="327167"/>
                </a:cubicBezTo>
                <a:close/>
              </a:path>
            </a:pathLst>
          </a:custGeom>
          <a:solidFill>
            <a:srgbClr val="FFD400">
              <a:alpha val="40000"/>
            </a:srgbClr>
          </a:solidFill>
          <a:ln w="317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716" tIns="25716" rIns="25716" bIns="25716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6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547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5FD9ECA3-D803-4D4D-B0B7-C49279AF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11" y="4938010"/>
            <a:ext cx="1904082" cy="162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487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698F9-8815-D0C1-5C6E-9998A979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7621B-CF43-3155-583F-46FCF10F9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E726-019A-6C66-44E4-4AAFA0070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DDF4A-1D07-DA4D-8861-061342490B87}" type="datetimeFigureOut">
              <a:rPr lang="en-RU" smtClean="0"/>
              <a:t>05/07/2025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910C-D222-A1EB-247E-0DA5797C6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74BD-A581-2DFB-A3CE-04FB7C078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A8DFB-52E2-AE4A-9D35-59B2B7AD6114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0292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56EF3-0B9B-35E3-3D75-D9862F31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17C66-5158-54C4-E637-161331051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F5372-CD88-15D2-5ACE-34D360D83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F21A9-079F-3C4D-A970-FE0C8C183700}" type="datetime1">
              <a:rPr lang="ru-RU" smtClean="0"/>
              <a:t>07.05.2025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86444-1F8B-7044-8DD2-BE8A67039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CD648-361D-3E17-2D5E-79F8C534F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6765C-B8AF-D241-8A3D-950600F7C8F3}" type="slidenum">
              <a:rPr lang="en-RU" smtClean="0"/>
              <a:t>‹Nr.›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3410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11F52C-F069-40AF-8C3B-E444B656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3" y="2666082"/>
            <a:ext cx="10962154" cy="1022253"/>
          </a:xfrm>
        </p:spPr>
        <p:txBody>
          <a:bodyPr>
            <a:noAutofit/>
          </a:bodyPr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Interaction </a:t>
            </a:r>
            <a:r>
              <a:rPr lang="de-DE" sz="3200" dirty="0" err="1">
                <a:solidFill>
                  <a:schemeClr val="tx1"/>
                </a:solidFill>
              </a:rPr>
              <a:t>of</a:t>
            </a:r>
            <a:r>
              <a:rPr lang="de-DE" sz="3200" dirty="0">
                <a:solidFill>
                  <a:schemeClr val="tx1"/>
                </a:solidFill>
              </a:rPr>
              <a:t> material </a:t>
            </a:r>
            <a:r>
              <a:rPr lang="de-DE" sz="3200" dirty="0" err="1">
                <a:solidFill>
                  <a:schemeClr val="tx1"/>
                </a:solidFill>
              </a:rPr>
              <a:t>poles</a:t>
            </a:r>
            <a:r>
              <a:rPr lang="de-DE" sz="3200" dirty="0">
                <a:solidFill>
                  <a:schemeClr val="tx1"/>
                </a:solidFill>
              </a:rPr>
              <a:t> and </a:t>
            </a:r>
            <a:r>
              <a:rPr lang="de-DE" sz="3200" dirty="0" err="1">
                <a:solidFill>
                  <a:schemeClr val="tx1"/>
                </a:solidFill>
              </a:rPr>
              <a:t>optical</a:t>
            </a:r>
            <a:r>
              <a:rPr lang="de-DE" sz="3200" dirty="0">
                <a:solidFill>
                  <a:schemeClr val="tx1"/>
                </a:solidFill>
              </a:rPr>
              <a:t> </a:t>
            </a:r>
            <a:r>
              <a:rPr lang="de-DE" sz="3200" dirty="0" err="1">
                <a:solidFill>
                  <a:schemeClr val="tx1"/>
                </a:solidFill>
              </a:rPr>
              <a:t>poles</a:t>
            </a:r>
            <a:r>
              <a:rPr lang="de-DE" sz="3200" dirty="0">
                <a:solidFill>
                  <a:schemeClr val="tx1"/>
                </a:solidFill>
              </a:rPr>
              <a:t> in different </a:t>
            </a:r>
            <a:r>
              <a:rPr lang="de-DE" sz="3200" dirty="0" err="1">
                <a:solidFill>
                  <a:schemeClr val="tx1"/>
                </a:solidFill>
              </a:rPr>
              <a:t>systems</a:t>
            </a:r>
            <a:r>
              <a:rPr lang="de-DE" sz="3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681" y="1626417"/>
            <a:ext cx="9791466" cy="24673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716" tIns="25716" rIns="25716" bIns="25716" numCol="1" spcCol="38100" rtlCol="0" anchor="t">
            <a:spAutoFit/>
          </a:bodyPr>
          <a:lstStyle/>
          <a:p>
            <a:r>
              <a:rPr lang="en-US" sz="1266" dirty="0"/>
              <a:t> </a:t>
            </a:r>
            <a:endParaRPr lang="en-US" sz="1547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1FE8C-132A-D639-A227-42819AC8D597}"/>
              </a:ext>
            </a:extLst>
          </p:cNvPr>
          <p:cNvSpPr txBox="1"/>
          <p:nvPr/>
        </p:nvSpPr>
        <p:spPr>
          <a:xfrm>
            <a:off x="1928754" y="2879653"/>
            <a:ext cx="51999" cy="29001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5716" tIns="25716" rIns="25716" bIns="25716" numCol="1" spcCol="38100" rtlCol="0" anchor="t">
            <a:spAutoFit/>
          </a:bodyPr>
          <a:lstStyle/>
          <a:p>
            <a:pPr defTabSz="914367" hangingPunct="0"/>
            <a:endParaRPr lang="en-RU" sz="1547" dirty="0">
              <a:solidFill>
                <a:srgbClr val="000000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33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B2A7-B9B9-292F-5FC1-FA49C5C1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FA93-F75D-EC59-0BD6-00700888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2</a:t>
            </a:fld>
            <a:endParaRPr lang="en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84920-299C-3A54-0233-95F4A2A369BB}"/>
              </a:ext>
            </a:extLst>
          </p:cNvPr>
          <p:cNvSpPr txBox="1"/>
          <p:nvPr/>
        </p:nvSpPr>
        <p:spPr>
          <a:xfrm>
            <a:off x="3171645" y="2932982"/>
            <a:ext cx="584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sz="3600" dirty="0">
                <a:latin typeface="Helvetica" pitchFamily="2" charset="0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11652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841DAED4-F691-970B-903A-661E10C00AAA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ysClr val="window" lastClr="FFFFFF"/>
              </a:gs>
              <a:gs pos="98000">
                <a:srgbClr val="FFC000">
                  <a:alpha val="80000"/>
                </a:srgbClr>
              </a:gs>
            </a:gsLst>
            <a:lin ang="0" scaled="1"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377CA-B9D7-EFDE-24CF-976CC37A72F9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Coupled Damped Oscillator Model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E1A6A-48A9-E25C-83D9-15BDFF50112E}"/>
                  </a:ext>
                </a:extLst>
              </p:cNvPr>
              <p:cNvSpPr txBox="1"/>
              <p:nvPr/>
            </p:nvSpPr>
            <p:spPr>
              <a:xfrm>
                <a:off x="1787235" y="2089234"/>
                <a:ext cx="4017819" cy="24475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Exciton and cavity mode coupling</a:t>
                </a:r>
              </a:p>
              <a:p>
                <a:pPr algn="ctr"/>
                <a:r>
                  <a:rPr lang="en-RU" dirty="0">
                    <a:latin typeface="Helvetica" pitchFamily="2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𝐄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</m:acc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𝜛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e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RU" dirty="0"/>
              </a:p>
              <a:p>
                <a:pPr algn="ctr"/>
                <a:endParaRPr lang="en-RU" dirty="0"/>
              </a:p>
              <a:p>
                <a:pPr algn="ctr"/>
                <a14:m>
                  <m:oMath xmlns:m="http://schemas.openxmlformats.org/officeDocument/2006/math">
                    <m:r>
                      <a:rPr lang="en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RU" dirty="0"/>
                  <a:t> </a:t>
                </a:r>
                <a:r>
                  <a:rPr lang="en-RU" dirty="0">
                    <a:latin typeface="Helvetica" pitchFamily="2" charset="0"/>
                  </a:rPr>
                  <a:t>- cavity mode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RU" dirty="0">
                    <a:latin typeface="Helvetica" pitchFamily="2" charset="0"/>
                  </a:rPr>
                  <a:t> - material pole (exciton)</a:t>
                </a:r>
              </a:p>
              <a:p>
                <a:pPr algn="ctr"/>
                <a:r>
                  <a:rPr lang="en-RU" dirty="0"/>
                  <a:t>g</a:t>
                </a:r>
                <a:r>
                  <a:rPr lang="en-RU" dirty="0">
                    <a:latin typeface="Helvetica" pitchFamily="2" charset="0"/>
                  </a:rPr>
                  <a:t>-the exciton-cavity coupling rate </a:t>
                </a:r>
              </a:p>
              <a:p>
                <a:pPr algn="ctr"/>
                <a:endParaRPr lang="en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E1A6A-48A9-E25C-83D9-15BDFF501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235" y="2089234"/>
                <a:ext cx="4017819" cy="2447529"/>
              </a:xfrm>
              <a:prstGeom prst="rect">
                <a:avLst/>
              </a:prstGeom>
              <a:blipFill>
                <a:blip r:embed="rId2"/>
                <a:stretch>
                  <a:fillRect t="-3093" r="-94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CCEE3-4E77-2BBD-EBBD-9289DA98798D}"/>
                  </a:ext>
                </a:extLst>
              </p:cNvPr>
              <p:cNvSpPr txBox="1"/>
              <p:nvPr/>
            </p:nvSpPr>
            <p:spPr>
              <a:xfrm>
                <a:off x="7399553" y="2492983"/>
                <a:ext cx="3005212" cy="18165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</m:t>
                      </m:r>
                    </m:oMath>
                  </m:oMathPara>
                </a14:m>
                <a:endParaRPr lang="en-US" b="1" i="1" dirty="0">
                  <a:ea typeface="Cambria Math" panose="02040503050406030204" pitchFamily="18" charset="0"/>
                </a:endParaRPr>
              </a:p>
              <a:p>
                <a:pPr algn="ctr"/>
                <a:endParaRPr lang="en-US" b="1" i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𝑖𝑔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</m:oMath>
                </a14:m>
                <a:r>
                  <a:rPr lang="en-US" b="1" i="1" dirty="0">
                    <a:ea typeface="Cambria Math" panose="02040503050406030204" pitchFamily="18" charset="0"/>
                  </a:rPr>
                  <a:t>  </a:t>
                </a:r>
                <a:r>
                  <a:rPr lang="en-US" i="1" dirty="0">
                    <a:latin typeface="Helvetica" pitchFamily="2" charset="0"/>
                    <a:ea typeface="Cambria Math" panose="02040503050406030204" pitchFamily="18" charset="0"/>
                  </a:rPr>
                  <a:t>- </a:t>
                </a:r>
                <a:r>
                  <a:rPr lang="en-GB" dirty="0">
                    <a:latin typeface="Helvetica" pitchFamily="2" charset="0"/>
                  </a:rPr>
                  <a:t>the induced polarization of the material </a:t>
                </a:r>
                <a:r>
                  <a:rPr lang="en-US" dirty="0">
                    <a:latin typeface="Helvetica" pitchFamily="2" charset="0"/>
                  </a:rPr>
                  <a:t>pole</a:t>
                </a: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CCEE3-4E77-2BBD-EBBD-9289DA987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553" y="2492983"/>
                <a:ext cx="3005212" cy="1816523"/>
              </a:xfrm>
              <a:prstGeom prst="rect">
                <a:avLst/>
              </a:prstGeom>
              <a:blipFill>
                <a:blip r:embed="rId3"/>
                <a:stretch>
                  <a:fillRect r="-1261" b="-694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F36EA9-A19F-209F-FC25-55FD0349755A}"/>
              </a:ext>
            </a:extLst>
          </p:cNvPr>
          <p:cNvSpPr txBox="1"/>
          <p:nvPr/>
        </p:nvSpPr>
        <p:spPr>
          <a:xfrm>
            <a:off x="748145" y="4536763"/>
            <a:ext cx="6096000" cy="592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2200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C. Carlson </a:t>
            </a:r>
            <a:r>
              <a:rPr lang="de-DE" sz="1800" dirty="0">
                <a:latin typeface="Helvetica" pitchFamily="2" charset="0"/>
              </a:rPr>
              <a:t>et al., </a:t>
            </a:r>
          </a:p>
          <a:p>
            <a:pPr algn="ctr">
              <a:lnSpc>
                <a:spcPct val="90000"/>
              </a:lnSpc>
              <a:buSzPts val="2200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Phys. Rev. B </a:t>
            </a:r>
            <a:r>
              <a:rPr lang="en-GB" b="1" i="0" dirty="0">
                <a:solidFill>
                  <a:srgbClr val="000000"/>
                </a:solidFill>
                <a:effectLst/>
                <a:latin typeface="Helvetica" pitchFamily="2" charset="0"/>
              </a:rPr>
              <a:t>104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n-RU" b="0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125424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de-DE" b="0" i="0" dirty="0">
                <a:solidFill>
                  <a:schemeClr val="dk1"/>
                </a:solidFill>
                <a:effectLst/>
                <a:latin typeface="Helvetica" pitchFamily="2" charset="0"/>
              </a:rPr>
              <a:t>(2021)</a:t>
            </a:r>
            <a:endParaRPr lang="de-DE" sz="1800" dirty="0">
              <a:solidFill>
                <a:schemeClr val="dk1"/>
              </a:solidFill>
              <a:latin typeface="Helvetica" pitchFamily="2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DA9CF79-BD41-5EB7-9CE8-63613511BF22}"/>
              </a:ext>
            </a:extLst>
          </p:cNvPr>
          <p:cNvSpPr/>
          <p:nvPr/>
        </p:nvSpPr>
        <p:spPr>
          <a:xfrm>
            <a:off x="6456830" y="2876581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29442-CB88-90EF-FEBB-723EDDFC838F}"/>
              </a:ext>
            </a:extLst>
          </p:cNvPr>
          <p:cNvSpPr/>
          <p:nvPr/>
        </p:nvSpPr>
        <p:spPr>
          <a:xfrm>
            <a:off x="7399553" y="3186545"/>
            <a:ext cx="3005212" cy="12469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" name="Slide Number Placeholder 17">
            <a:extLst>
              <a:ext uri="{FF2B5EF4-FFF2-40B4-BE49-F238E27FC236}">
                <a16:creationId xmlns:a16="http://schemas.microsoft.com/office/drawing/2014/main" id="{35730B79-0EA1-C072-135A-FEE1EAB5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29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DE87-CA30-9768-25F2-4B352C58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EF10B196-542A-5897-AC7A-06A52E956657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DFC6E4-7BA7-CD13-BF38-3D0E8CE00888}"/>
              </a:ext>
            </a:extLst>
          </p:cNvPr>
          <p:cNvSpPr/>
          <p:nvPr/>
        </p:nvSpPr>
        <p:spPr>
          <a:xfrm>
            <a:off x="1484065" y="3739771"/>
            <a:ext cx="2016691" cy="201669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FAD084-DA30-2E3D-2AD6-2B5707662850}"/>
              </a:ext>
            </a:extLst>
          </p:cNvPr>
          <p:cNvSpPr/>
          <p:nvPr/>
        </p:nvSpPr>
        <p:spPr>
          <a:xfrm>
            <a:off x="2080616" y="4336322"/>
            <a:ext cx="818889" cy="818889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3E48C8-417B-5452-AC5E-175FF5AE2B50}"/>
              </a:ext>
            </a:extLst>
          </p:cNvPr>
          <p:cNvSpPr/>
          <p:nvPr/>
        </p:nvSpPr>
        <p:spPr>
          <a:xfrm>
            <a:off x="890895" y="1859365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EE2A59-E46C-4E73-4F31-A5D762CA9B83}"/>
              </a:ext>
            </a:extLst>
          </p:cNvPr>
          <p:cNvSpPr/>
          <p:nvPr/>
        </p:nvSpPr>
        <p:spPr>
          <a:xfrm>
            <a:off x="890895" y="262726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13732-F35D-CE37-60E3-03B3DC1976FA}"/>
              </a:ext>
            </a:extLst>
          </p:cNvPr>
          <p:cNvSpPr/>
          <p:nvPr/>
        </p:nvSpPr>
        <p:spPr>
          <a:xfrm>
            <a:off x="890895" y="2081828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18E206-8298-5111-56C4-0C0233FFC58D}"/>
              </a:ext>
            </a:extLst>
          </p:cNvPr>
          <p:cNvSpPr txBox="1"/>
          <p:nvPr/>
        </p:nvSpPr>
        <p:spPr>
          <a:xfrm>
            <a:off x="817673" y="3365739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Core-shell particle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1419A7-C883-389E-20EF-17FB295B1F01}"/>
              </a:ext>
            </a:extLst>
          </p:cNvPr>
          <p:cNvSpPr txBox="1"/>
          <p:nvPr/>
        </p:nvSpPr>
        <p:spPr>
          <a:xfrm>
            <a:off x="936097" y="1401981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Fabry-perot cavity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955E3A-F6C9-8087-25FF-DB23A651F3DF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RSE vs material poles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AAA101-EC1D-453D-6A8A-229A33E00EF6}"/>
              </a:ext>
            </a:extLst>
          </p:cNvPr>
          <p:cNvSpPr txBox="1"/>
          <p:nvPr/>
        </p:nvSpPr>
        <p:spPr>
          <a:xfrm>
            <a:off x="2401679" y="6030431"/>
            <a:ext cx="7388642" cy="841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2200"/>
            </a:pPr>
            <a:r>
              <a:rPr lang="en-GB" i="0" dirty="0">
                <a:solidFill>
                  <a:srgbClr val="222222"/>
                </a:solidFill>
                <a:effectLst/>
                <a:latin typeface="Helvetica" pitchFamily="2" charset="0"/>
              </a:rPr>
              <a:t>E. A. </a:t>
            </a:r>
            <a:r>
              <a:rPr lang="en-GB" i="0" dirty="0" err="1">
                <a:solidFill>
                  <a:srgbClr val="222222"/>
                </a:solidFill>
                <a:effectLst/>
                <a:latin typeface="Helvetica" pitchFamily="2" charset="0"/>
              </a:rPr>
              <a:t>Muljarov</a:t>
            </a:r>
            <a:r>
              <a:rPr lang="en-GB" i="0" dirty="0">
                <a:solidFill>
                  <a:srgbClr val="222222"/>
                </a:solidFill>
                <a:effectLst/>
                <a:latin typeface="Helvetica" pitchFamily="2" charset="0"/>
              </a:rPr>
              <a:t> and T. Weiss, Optics Letters</a:t>
            </a:r>
            <a:r>
              <a:rPr lang="de-DE" sz="1800" dirty="0">
                <a:solidFill>
                  <a:schemeClr val="dk1"/>
                </a:solidFill>
                <a:latin typeface="Helvetica" pitchFamily="2" charset="0"/>
              </a:rPr>
              <a:t>, </a:t>
            </a:r>
            <a:r>
              <a:rPr lang="de-DE" dirty="0">
                <a:solidFill>
                  <a:schemeClr val="dk1"/>
                </a:solidFill>
                <a:latin typeface="Helvetica" pitchFamily="2" charset="0"/>
              </a:rPr>
              <a:t>43</a:t>
            </a:r>
            <a:r>
              <a:rPr lang="de-DE" sz="1800" dirty="0">
                <a:solidFill>
                  <a:schemeClr val="dk1"/>
                </a:solidFill>
                <a:latin typeface="Helvetica" pitchFamily="2" charset="0"/>
              </a:rPr>
              <a:t>, </a:t>
            </a:r>
            <a:r>
              <a:rPr lang="de-DE" dirty="0">
                <a:solidFill>
                  <a:schemeClr val="dk1"/>
                </a:solidFill>
                <a:latin typeface="Helvetica" pitchFamily="2" charset="0"/>
              </a:rPr>
              <a:t>9</a:t>
            </a:r>
            <a:r>
              <a:rPr lang="de-DE" sz="1800" dirty="0">
                <a:solidFill>
                  <a:schemeClr val="dk1"/>
                </a:solidFill>
                <a:latin typeface="Helvetica" pitchFamily="2" charset="0"/>
              </a:rPr>
              <a:t>, 1978-1981 (2018)</a:t>
            </a:r>
          </a:p>
          <a:p>
            <a:pPr algn="ctr">
              <a:lnSpc>
                <a:spcPct val="90000"/>
              </a:lnSpc>
              <a:buSzPts val="2200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E. A.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Muljarov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 and W. Langbein, Phys. Rev. B </a:t>
            </a:r>
            <a:r>
              <a:rPr lang="en-GB" b="1" i="0" dirty="0">
                <a:solidFill>
                  <a:srgbClr val="000000"/>
                </a:solidFill>
                <a:effectLst/>
                <a:latin typeface="Helvetica" pitchFamily="2" charset="0"/>
              </a:rPr>
              <a:t>93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, 075417</a:t>
            </a:r>
            <a:r>
              <a:rPr lang="de-DE" b="0" i="0" dirty="0">
                <a:solidFill>
                  <a:schemeClr val="dk1"/>
                </a:solidFill>
                <a:effectLst/>
                <a:latin typeface="Helvetica" pitchFamily="2" charset="0"/>
              </a:rPr>
              <a:t> (2016)</a:t>
            </a:r>
            <a:endParaRPr lang="de-DE" sz="1800" dirty="0">
              <a:solidFill>
                <a:schemeClr val="dk1"/>
              </a:solidFill>
              <a:latin typeface="Helvetica" pitchFamily="2" charset="0"/>
            </a:endParaRPr>
          </a:p>
          <a:p>
            <a:pPr algn="ctr">
              <a:lnSpc>
                <a:spcPct val="90000"/>
              </a:lnSpc>
              <a:buSzPts val="2200"/>
            </a:pPr>
            <a:endParaRPr lang="de-DE" sz="1800" dirty="0">
              <a:solidFill>
                <a:schemeClr val="dk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F2C73D-51D8-9665-B93C-B2D3A9F82EDB}"/>
                  </a:ext>
                </a:extLst>
              </p:cNvPr>
              <p:cNvSpPr txBox="1"/>
              <p:nvPr/>
            </p:nvSpPr>
            <p:spPr>
              <a:xfrm>
                <a:off x="5142220" y="1859365"/>
                <a:ext cx="7488196" cy="2260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RU" dirty="0"/>
                  <a:t> – </a:t>
                </a:r>
                <a:r>
                  <a:rPr lang="en-RU" dirty="0">
                    <a:latin typeface="Helvetica" pitchFamily="2" charset="0"/>
                  </a:rPr>
                  <a:t>curl </a:t>
                </a:r>
                <a:r>
                  <a:rPr lang="en-GB" dirty="0">
                    <a:latin typeface="Helvetica" pitchFamily="2" charset="0"/>
                  </a:rPr>
                  <a:t>Maxwell’s equations in matrix form</a:t>
                </a:r>
              </a:p>
              <a:p>
                <a:endParaRPr lang="en-GB" dirty="0"/>
              </a:p>
              <a:p>
                <a:r>
                  <a:rPr lang="en-GB" dirty="0">
                    <a:latin typeface="Helvetica" pitchFamily="2" charset="0"/>
                  </a:rPr>
                  <a:t>w</a:t>
                </a:r>
                <a:r>
                  <a:rPr lang="en-RU" dirty="0">
                    <a:latin typeface="Helvetica" pitchFamily="2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RU" dirty="0"/>
                  <a:t> </a:t>
                </a:r>
                <a:r>
                  <a:rPr lang="en-RU" dirty="0">
                    <a:latin typeface="Helvetica" pitchFamily="2" charset="0"/>
                  </a:rPr>
                  <a:t>is material matrix</a:t>
                </a:r>
                <a:r>
                  <a:rPr lang="en-RU" i="1" dirty="0">
                    <a:latin typeface="Helvetica" pitchFamily="2" charset="0"/>
                  </a:rPr>
                  <a:t>, </a:t>
                </a:r>
              </a:p>
              <a:p>
                <a:endParaRPr lang="en-RU" i="1" dirty="0">
                  <a:latin typeface="Helvetica" pitchFamily="2" charset="0"/>
                </a:endParaRPr>
              </a:p>
              <a:p>
                <a:r>
                  <a:rPr lang="en-RU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RU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𝔽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𝐄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</m:d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RU" b="1" dirty="0"/>
              </a:p>
              <a:p>
                <a:endParaRPr lang="en-RU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F2C73D-51D8-9665-B93C-B2D3A9F82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20" y="1859365"/>
                <a:ext cx="7488196" cy="2260299"/>
              </a:xfrm>
              <a:prstGeom prst="rect">
                <a:avLst/>
              </a:prstGeom>
              <a:blipFill>
                <a:blip r:embed="rId3"/>
                <a:stretch>
                  <a:fillRect l="-847" t="-111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17">
            <a:extLst>
              <a:ext uri="{FF2B5EF4-FFF2-40B4-BE49-F238E27FC236}">
                <a16:creationId xmlns:a16="http://schemas.microsoft.com/office/drawing/2014/main" id="{602B0924-B574-F960-E91C-B842221B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97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7510-A39D-72E6-7277-6856BE16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C560FF5C-7D4A-7970-7C2F-CBD49C5DC2B4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531981D-3479-6195-32F3-194D8743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3A0E58-9F38-EEDE-DCF1-5C7B1903032C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RSE vs material poles – system of equations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FAEBEF-7330-DFFA-FAAB-4B4DFC453497}"/>
                  </a:ext>
                </a:extLst>
              </p:cNvPr>
              <p:cNvSpPr txBox="1"/>
              <p:nvPr/>
            </p:nvSpPr>
            <p:spPr>
              <a:xfrm>
                <a:off x="967090" y="1348254"/>
                <a:ext cx="5832959" cy="3689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𝔽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𝔽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</m:t>
                      </m:r>
                      <m:r>
                        <a:rPr lang="en-US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𝑖𝑔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den>
                      </m:f>
                      <m:r>
                        <a:rPr lang="en-US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𝐄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ru-RU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𝔽</m:t>
                      </m:r>
                    </m:oMath>
                  </m:oMathPara>
                </a14:m>
                <a:endParaRPr lang="de-DE" b="1" dirty="0">
                  <a:solidFill>
                    <a:srgbClr val="FF0000"/>
                  </a:solidFill>
                </a:endParaRPr>
              </a:p>
              <a:p>
                <a:br>
                  <a:rPr lang="de-DE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r>
                  <a:rPr lang="de-DE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Resonant-</a:t>
                </a:r>
                <a:r>
                  <a:rPr lang="de-DE" sz="20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state</a:t>
                </a:r>
                <a:r>
                  <a:rPr lang="de-DE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de-DE" sz="20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expansion</a:t>
                </a:r>
                <a:r>
                  <a:rPr lang="de-DE" sz="2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  <a:p>
                <a:endParaRPr lang="en-RU" sz="20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</m:oMath>
                </a14:m>
                <a:endParaRPr lang="en-RU" b="1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⨂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de-DE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r>
                  <a:rPr lang="en-RU" dirty="0">
                    <a:latin typeface="Helvetica" pitchFamily="2" charset="0"/>
                  </a:rPr>
                  <a:t> </a:t>
                </a:r>
                <a:endParaRPr lang="en-GB" dirty="0">
                  <a:latin typeface="Helvetica" pitchFamily="2" charset="0"/>
                </a:endParaRPr>
              </a:p>
              <a:p>
                <a:pPr algn="ctr"/>
                <a:endParaRPr lang="en-RU" dirty="0">
                  <a:latin typeface="Helvetica" pitchFamily="2" charset="0"/>
                </a:endParaRPr>
              </a:p>
              <a:p>
                <a:pPr algn="ctr"/>
                <a:endParaRPr lang="en-RU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FAEBEF-7330-DFFA-FAAB-4B4DFC453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90" y="1348254"/>
                <a:ext cx="5832959" cy="3689536"/>
              </a:xfrm>
              <a:prstGeom prst="rect">
                <a:avLst/>
              </a:prstGeom>
              <a:blipFill>
                <a:blip r:embed="rId3"/>
                <a:stretch>
                  <a:fillRect l="-1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>
            <a:extLst>
              <a:ext uri="{FF2B5EF4-FFF2-40B4-BE49-F238E27FC236}">
                <a16:creationId xmlns:a16="http://schemas.microsoft.com/office/drawing/2014/main" id="{59649A2C-94D4-69DD-80B4-359FDAECB944}"/>
              </a:ext>
            </a:extLst>
          </p:cNvPr>
          <p:cNvSpPr/>
          <p:nvPr/>
        </p:nvSpPr>
        <p:spPr>
          <a:xfrm rot="16200000">
            <a:off x="6862960" y="2563285"/>
            <a:ext cx="410308" cy="32824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A6826360-23C1-D896-0404-3C0458A08624}"/>
              </a:ext>
            </a:extLst>
          </p:cNvPr>
          <p:cNvSpPr/>
          <p:nvPr/>
        </p:nvSpPr>
        <p:spPr>
          <a:xfrm>
            <a:off x="6451734" y="1346456"/>
            <a:ext cx="173123" cy="3006959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U">
              <a:ln w="28575"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CA74ED-8D2F-ABFB-CCBC-F2B908AC55C4}"/>
                  </a:ext>
                </a:extLst>
              </p:cNvPr>
              <p:cNvSpPr txBox="1"/>
              <p:nvPr/>
            </p:nvSpPr>
            <p:spPr>
              <a:xfrm>
                <a:off x="7232238" y="1846467"/>
                <a:ext cx="4273258" cy="1997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RU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dirty="0"/>
                  <a:t> </a:t>
                </a:r>
                <a:br>
                  <a:rPr lang="de-DE" dirty="0"/>
                </a:br>
                <a:r>
                  <a:rPr lang="en-GB" dirty="0">
                    <a:latin typeface="Helvetica" pitchFamily="2" charset="0"/>
                  </a:rPr>
                  <a:t>overlap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GB" b="0" i="0" baseline="30000" dirty="0" smtClean="0">
                        <a:latin typeface="Cambria Math" panose="02040503050406030204" pitchFamily="18" charset="0"/>
                      </a:rPr>
                      <m:t>th</m:t>
                    </m:r>
                  </m:oMath>
                </a14:m>
                <a:r>
                  <a:rPr lang="en-GB" dirty="0">
                    <a:latin typeface="Helvetica" pitchFamily="2" charset="0"/>
                  </a:rPr>
                  <a:t> electromagnetic mode and induced polarization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GB" b="0" i="0" baseline="30000" dirty="0" smtClean="0">
                        <a:latin typeface="Cambria Math" panose="02040503050406030204" pitchFamily="18" charset="0"/>
                      </a:rPr>
                      <m:t>th</m:t>
                    </m:r>
                  </m:oMath>
                </a14:m>
                <a:r>
                  <a:rPr lang="en-GB" dirty="0">
                    <a:latin typeface="Helvetica" pitchFamily="2" charset="0"/>
                  </a:rPr>
                  <a:t> material </a:t>
                </a:r>
                <a:r>
                  <a:rPr lang="en-US" dirty="0">
                    <a:latin typeface="Helvetica" pitchFamily="2" charset="0"/>
                  </a:rPr>
                  <a:t>pole</a:t>
                </a:r>
                <a:endParaRPr lang="en-RU" dirty="0">
                  <a:latin typeface="Helvetica" pitchFamily="2" charset="0"/>
                </a:endParaRPr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CA74ED-8D2F-ABFB-CCBC-F2B908AC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238" y="1846467"/>
                <a:ext cx="4273258" cy="19972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F65B7-287E-9E76-246B-645870EE4210}"/>
                  </a:ext>
                </a:extLst>
              </p:cNvPr>
              <p:cNvSpPr txBox="1"/>
              <p:nvPr/>
            </p:nvSpPr>
            <p:spPr>
              <a:xfrm>
                <a:off x="1071030" y="4903864"/>
                <a:ext cx="5832960" cy="1567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Helvetica" pitchFamily="2" charset="0"/>
                  </a:rPr>
                  <a:t>From the definition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Helvetica" pitchFamily="2" charset="0"/>
                  </a:rPr>
                  <a:t>: </a:t>
                </a:r>
              </a:p>
              <a:p>
                <a:endParaRPr lang="en-US" dirty="0">
                  <a:latin typeface="Helvetica" pitchFamily="2" charset="0"/>
                </a:endParaRPr>
              </a:p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sup>
                    </m:s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r>
                  <a:rPr lang="en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     |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nary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d>
                  </m:oMath>
                </a14:m>
                <a:endParaRPr lang="en-RU" dirty="0"/>
              </a:p>
              <a:p>
                <a:pPr algn="ctr"/>
                <a:endParaRPr lang="en-RU" dirty="0"/>
              </a:p>
              <a:p>
                <a:pPr algn="ctr"/>
                <a:endParaRPr lang="en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F65B7-287E-9E76-246B-645870EE4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030" y="4903864"/>
                <a:ext cx="5832960" cy="1567289"/>
              </a:xfrm>
              <a:prstGeom prst="rect">
                <a:avLst/>
              </a:prstGeom>
              <a:blipFill>
                <a:blip r:embed="rId5"/>
                <a:stretch>
                  <a:fillRect l="-1149" t="-775" b="-151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ket 16">
            <a:extLst>
              <a:ext uri="{FF2B5EF4-FFF2-40B4-BE49-F238E27FC236}">
                <a16:creationId xmlns:a16="http://schemas.microsoft.com/office/drawing/2014/main" id="{FA2F9C48-2CB2-D724-29E9-B0831BED8246}"/>
              </a:ext>
            </a:extLst>
          </p:cNvPr>
          <p:cNvSpPr/>
          <p:nvPr/>
        </p:nvSpPr>
        <p:spPr>
          <a:xfrm>
            <a:off x="6451734" y="4903864"/>
            <a:ext cx="173123" cy="1432497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U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234B9AB-76DE-1044-C4BB-0D40F2E69262}"/>
              </a:ext>
            </a:extLst>
          </p:cNvPr>
          <p:cNvSpPr/>
          <p:nvPr/>
        </p:nvSpPr>
        <p:spPr>
          <a:xfrm rot="16200000">
            <a:off x="6862961" y="5455988"/>
            <a:ext cx="410308" cy="32824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AAE17B-4A0C-4437-E0DC-3076D383ACCA}"/>
                  </a:ext>
                </a:extLst>
              </p:cNvPr>
              <p:cNvSpPr txBox="1"/>
              <p:nvPr/>
            </p:nvSpPr>
            <p:spPr>
              <a:xfrm>
                <a:off x="7392473" y="4903864"/>
                <a:ext cx="3961327" cy="1521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AAE17B-4A0C-4437-E0DC-3076D383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473" y="4903864"/>
                <a:ext cx="3961327" cy="15214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A17D9A-CFD7-7ADF-2A58-D489B0942CC3}"/>
              </a:ext>
            </a:extLst>
          </p:cNvPr>
          <p:cNvCxnSpPr>
            <a:cxnSpLocks/>
          </p:cNvCxnSpPr>
          <p:nvPr/>
        </p:nvCxnSpPr>
        <p:spPr>
          <a:xfrm>
            <a:off x="862885" y="4456090"/>
            <a:ext cx="106426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AC7C0E-7C67-F5F5-A4CE-CD396A108A78}"/>
              </a:ext>
            </a:extLst>
          </p:cNvPr>
          <p:cNvSpPr txBox="1"/>
          <p:nvPr/>
        </p:nvSpPr>
        <p:spPr>
          <a:xfrm>
            <a:off x="534901" y="1075654"/>
            <a:ext cx="2007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000" dirty="0">
                <a:latin typeface="Helvetica" pitchFamily="2" charset="0"/>
              </a:rPr>
              <a:t>1st equation: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F75421-0FBE-6812-4D4C-3D247F1D7F4E}"/>
              </a:ext>
            </a:extLst>
          </p:cNvPr>
          <p:cNvSpPr txBox="1"/>
          <p:nvPr/>
        </p:nvSpPr>
        <p:spPr>
          <a:xfrm>
            <a:off x="534901" y="4500239"/>
            <a:ext cx="2007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2000" dirty="0">
                <a:latin typeface="Helvetica" pitchFamily="2" charset="0"/>
              </a:rPr>
              <a:t>2nd equation:</a:t>
            </a:r>
          </a:p>
        </p:txBody>
      </p:sp>
    </p:spTree>
    <p:extLst>
      <p:ext uri="{BB962C8B-B14F-4D97-AF65-F5344CB8AC3E}">
        <p14:creationId xmlns:p14="http://schemas.microsoft.com/office/powerpoint/2010/main" val="426365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/>
      <p:bldP spid="17" grpId="0" animBg="1"/>
      <p:bldP spid="19" grpId="0" animBg="1"/>
      <p:bldP spid="20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92F0-2759-7C2E-4E69-9228FDEA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24452-ACC8-E106-C333-8B724619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6745" y="6190090"/>
            <a:ext cx="2743200" cy="365125"/>
          </a:xfrm>
        </p:spPr>
        <p:txBody>
          <a:bodyPr/>
          <a:lstStyle/>
          <a:p>
            <a:fld id="{10B6765C-B8AF-D241-8A3D-950600F7C8F3}" type="slidenum">
              <a:rPr lang="en-RU" smtClean="0"/>
              <a:t>6</a:t>
            </a:fld>
            <a:endParaRPr lang="en-RU"/>
          </a:p>
        </p:txBody>
      </p:sp>
      <p:sp>
        <p:nvSpPr>
          <p:cNvPr id="5" name="Прямоугольник 92">
            <a:extLst>
              <a:ext uri="{FF2B5EF4-FFF2-40B4-BE49-F238E27FC236}">
                <a16:creationId xmlns:a16="http://schemas.microsoft.com/office/drawing/2014/main" id="{3F0C84E6-445F-FCC5-F40C-27B332437C4C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902F2A-5347-A67F-DBE4-C62347EE5177}"/>
                  </a:ext>
                </a:extLst>
              </p:cNvPr>
              <p:cNvSpPr txBox="1"/>
              <p:nvPr/>
            </p:nvSpPr>
            <p:spPr>
              <a:xfrm>
                <a:off x="5749637" y="1313191"/>
                <a:ext cx="5915890" cy="3046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Helvetica" pitchFamily="2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RU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32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13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23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33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               ⋱</m:t>
                              </m:r>
                            </m:e>
                            <m:e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RU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bSup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sup>
                            </m:sSubSup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endParaRPr lang="en-RU" dirty="0"/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902F2A-5347-A67F-DBE4-C62347EE5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637" y="1313191"/>
                <a:ext cx="5915890" cy="3046603"/>
              </a:xfrm>
              <a:prstGeom prst="rect">
                <a:avLst/>
              </a:prstGeom>
              <a:blipFill>
                <a:blip r:embed="rId3"/>
                <a:stretch>
                  <a:fillRect l="-2355" t="-41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124558-AFAF-3B67-C8A5-457370991A9C}"/>
                  </a:ext>
                </a:extLst>
              </p:cNvPr>
              <p:cNvSpPr txBox="1"/>
              <p:nvPr/>
            </p:nvSpPr>
            <p:spPr>
              <a:xfrm>
                <a:off x="901521" y="1520909"/>
                <a:ext cx="2859885" cy="1481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124558-AFAF-3B67-C8A5-457370991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21" y="1520909"/>
                <a:ext cx="2859885" cy="1481496"/>
              </a:xfrm>
              <a:prstGeom prst="rect">
                <a:avLst/>
              </a:prstGeom>
              <a:blipFill>
                <a:blip r:embed="rId4"/>
                <a:stretch>
                  <a:fillRect t="-66102" b="-9067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6BFE8F6B-DDD9-5B06-7296-814ABA243386}"/>
              </a:ext>
            </a:extLst>
          </p:cNvPr>
          <p:cNvSpPr/>
          <p:nvPr/>
        </p:nvSpPr>
        <p:spPr>
          <a:xfrm>
            <a:off x="3841553" y="1429336"/>
            <a:ext cx="183751" cy="223932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389D1-9171-D496-1F67-2AB396F99F68}"/>
                  </a:ext>
                </a:extLst>
              </p:cNvPr>
              <p:cNvSpPr txBox="1"/>
              <p:nvPr/>
            </p:nvSpPr>
            <p:spPr>
              <a:xfrm>
                <a:off x="4235393" y="3017137"/>
                <a:ext cx="10291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𝐕</m:t>
                      </m:r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7389D1-9171-D496-1F67-2AB396F99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393" y="3017137"/>
                <a:ext cx="1029128" cy="276999"/>
              </a:xfrm>
              <a:prstGeom prst="rect">
                <a:avLst/>
              </a:prstGeom>
              <a:blipFill>
                <a:blip r:embed="rId5"/>
                <a:stretch>
                  <a:fillRect l="-4878" t="-8696" r="-4878" b="-3478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B08A0D-43F4-E528-89F6-7D1D45E5F040}"/>
                  </a:ext>
                </a:extLst>
              </p:cNvPr>
              <p:cNvSpPr txBox="1"/>
              <p:nvPr/>
            </p:nvSpPr>
            <p:spPr>
              <a:xfrm>
                <a:off x="3489083" y="4241609"/>
                <a:ext cx="8345563" cy="18758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RU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𝑖𝑖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RU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Ω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eqAr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eqArr>
                                <m:eqArrPr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                     ⋱</m:t>
                              </m:r>
                            </m:e>
                            <m:e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 0</m:t>
                                    </m: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en-RU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RU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nary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RU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RU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ru-RU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RU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RU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e>
                                  <m:e>
                                    <m:r>
                                      <a:rPr lang="en-RU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B08A0D-43F4-E528-89F6-7D1D45E5F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83" y="4241609"/>
                <a:ext cx="8345563" cy="1875835"/>
              </a:xfrm>
              <a:prstGeom prst="rect">
                <a:avLst/>
              </a:prstGeom>
              <a:blipFill>
                <a:blip r:embed="rId6"/>
                <a:stretch>
                  <a:fillRect l="-912" t="-22297" b="-270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2860E-16CA-18C8-F9EE-053EC5337778}"/>
                  </a:ext>
                </a:extLst>
              </p:cNvPr>
              <p:cNvSpPr txBox="1"/>
              <p:nvPr/>
            </p:nvSpPr>
            <p:spPr>
              <a:xfrm>
                <a:off x="901521" y="3175943"/>
                <a:ext cx="3045129" cy="371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endParaRPr lang="en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2860E-16CA-18C8-F9EE-053EC5337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21" y="3175943"/>
                <a:ext cx="3045129" cy="371255"/>
              </a:xfrm>
              <a:prstGeom prst="rect">
                <a:avLst/>
              </a:prstGeom>
              <a:blipFill>
                <a:blip r:embed="rId7"/>
                <a:stretch>
                  <a:fillRect l="-2806" t="-145902" r="-7615" b="-2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4F7AB7-6D63-B9BC-215C-AD1391DAFFB0}"/>
                  </a:ext>
                </a:extLst>
              </p:cNvPr>
              <p:cNvSpPr txBox="1"/>
              <p:nvPr/>
            </p:nvSpPr>
            <p:spPr>
              <a:xfrm>
                <a:off x="1521135" y="217023"/>
                <a:ext cx="103135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ea typeface="+mn-ea"/>
                    <a:cs typeface="+mn-cs"/>
                  </a:rPr>
                  <a:t>System of equations </a:t>
                </a:r>
                <a14:m>
                  <m:oMath xmlns:m="http://schemas.openxmlformats.org/officeDocument/2006/math">
                    <m:r>
                      <a:rPr kumimoji="0" lang="en-GB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0" lang="en-GB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itchFamily="2" charset="0"/>
                    <a:ea typeface="+mn-ea"/>
                    <a:cs typeface="+mn-cs"/>
                  </a:rPr>
                  <a:t> Matrix equation</a:t>
                </a:r>
                <a:endParaRPr kumimoji="0" lang="en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itchFamily="2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4F7AB7-6D63-B9BC-215C-AD1391DA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135" y="217023"/>
                <a:ext cx="10313511" cy="523220"/>
              </a:xfrm>
              <a:prstGeom prst="rect">
                <a:avLst/>
              </a:prstGeom>
              <a:blipFill>
                <a:blip r:embed="rId8"/>
                <a:stretch>
                  <a:fillRect t="-11905" r="-1232" b="-3095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6A0F4521-7361-8B7A-92F8-1658D27671AC}"/>
              </a:ext>
            </a:extLst>
          </p:cNvPr>
          <p:cNvSpPr/>
          <p:nvPr/>
        </p:nvSpPr>
        <p:spPr>
          <a:xfrm>
            <a:off x="4133533" y="1959484"/>
            <a:ext cx="1316182" cy="1449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F5A7AE-869E-D041-11F2-DB4C77664251}"/>
                  </a:ext>
                </a:extLst>
              </p:cNvPr>
              <p:cNvSpPr txBox="1"/>
              <p:nvPr/>
            </p:nvSpPr>
            <p:spPr>
              <a:xfrm>
                <a:off x="721989" y="4392034"/>
                <a:ext cx="2904306" cy="1798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RU" dirty="0">
                    <a:latin typeface="Helvetica" pitchFamily="2" charset="0"/>
                  </a:rPr>
                  <a:t>- wavenumber of i-th </a:t>
                </a:r>
                <a:r>
                  <a:rPr lang="en-US" dirty="0">
                    <a:latin typeface="Helvetica" pitchFamily="2" charset="0"/>
                  </a:rPr>
                  <a:t>optical </a:t>
                </a:r>
                <a:r>
                  <a:rPr lang="en-RU" dirty="0">
                    <a:latin typeface="Helvetica" pitchFamily="2" charset="0"/>
                  </a:rPr>
                  <a:t>pole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RU" i="1" dirty="0"/>
                  <a:t>-  </a:t>
                </a:r>
                <a:r>
                  <a:rPr lang="en-RU" dirty="0">
                    <a:latin typeface="Helvetica" pitchFamily="2" charset="0"/>
                  </a:rPr>
                  <a:t>p-th material pole</a:t>
                </a:r>
              </a:p>
              <a:p>
                <a:endParaRPr lang="en-RU" i="1" dirty="0">
                  <a:latin typeface="Helvetica" pitchFamily="2" charset="0"/>
                </a:endParaRPr>
              </a:p>
              <a:p>
                <a:r>
                  <a:rPr lang="en-GB" dirty="0">
                    <a:latin typeface="Helvetica" pitchFamily="2" charset="0"/>
                  </a:rPr>
                  <a:t>Size of blocks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GB" dirty="0">
                    <a:latin typeface="Helvetica" pitchFamily="2" charset="0"/>
                  </a:rPr>
                  <a:t> and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RU" i="1" dirty="0"/>
                  <a:t> </a:t>
                </a:r>
                <a:r>
                  <a:rPr lang="en-RU" dirty="0">
                    <a:latin typeface="Helvetica" pitchFamily="2" charset="0"/>
                  </a:rPr>
                  <a:t>is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× (1+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dirty="0">
                    <a:latin typeface="Helvetica" pitchFamily="2" charset="0"/>
                  </a:rPr>
                  <a:t> </a:t>
                </a:r>
                <a:endParaRPr lang="en-RU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F5A7AE-869E-D041-11F2-DB4C77664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89" y="4392034"/>
                <a:ext cx="2904306" cy="1798056"/>
              </a:xfrm>
              <a:prstGeom prst="rect">
                <a:avLst/>
              </a:prstGeom>
              <a:blipFill>
                <a:blip r:embed="rId9"/>
                <a:stretch>
                  <a:fillRect l="-1739" t="-1399" b="-419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4FE76A3-478E-6BFA-D91F-287C669EDC2B}"/>
              </a:ext>
            </a:extLst>
          </p:cNvPr>
          <p:cNvSpPr txBox="1"/>
          <p:nvPr/>
        </p:nvSpPr>
        <p:spPr>
          <a:xfrm>
            <a:off x="4073771" y="1959484"/>
            <a:ext cx="1482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Linear eigenvalue problem</a:t>
            </a:r>
          </a:p>
        </p:txBody>
      </p:sp>
    </p:spTree>
    <p:extLst>
      <p:ext uri="{BB962C8B-B14F-4D97-AF65-F5344CB8AC3E}">
        <p14:creationId xmlns:p14="http://schemas.microsoft.com/office/powerpoint/2010/main" val="386874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 animBg="1"/>
      <p:bldP spid="19" grpId="0"/>
      <p:bldP spid="23" grpId="0"/>
      <p:bldP spid="25" grpId="0"/>
      <p:bldP spid="27" grpId="0" animBg="1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B513-0503-B028-7119-C79AC613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92">
            <a:extLst>
              <a:ext uri="{FF2B5EF4-FFF2-40B4-BE49-F238E27FC236}">
                <a16:creationId xmlns:a16="http://schemas.microsoft.com/office/drawing/2014/main" id="{F2157732-571A-CCCA-405E-C7E0B298519D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9D3F27-D617-AB47-0534-484E3CE10AFB}"/>
                  </a:ext>
                </a:extLst>
              </p:cNvPr>
              <p:cNvSpPr txBox="1"/>
              <p:nvPr/>
            </p:nvSpPr>
            <p:spPr>
              <a:xfrm>
                <a:off x="587026" y="2004271"/>
                <a:ext cx="5915890" cy="24030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RU" b="1" dirty="0">
                    <a:latin typeface="Helvetica" pitchFamily="2" charset="0"/>
                  </a:rPr>
                  <a:t> RSE</a:t>
                </a:r>
              </a:p>
              <a:p>
                <a:pPr algn="ctr"/>
                <a:endParaRPr lang="en-RU" b="1" dirty="0"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R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  <m:sup/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l-GR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l-GR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l-GR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    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</m:t>
                                      </m:r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l-GR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0</m:t>
                                            </m:r>
                                          </m:e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  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     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          0</m:t>
                                                </m:r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     </m:t>
                                                    </m:r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l-GR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   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        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          </m:t>
                                              </m:r>
                                            </m:sup>
                                          </m:sSubSup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  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     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     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l-GR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eqAr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9D3F27-D617-AB47-0534-484E3CE10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26" y="2004271"/>
                <a:ext cx="5915890" cy="2403094"/>
              </a:xfrm>
              <a:prstGeom prst="rect">
                <a:avLst/>
              </a:prstGeom>
              <a:blipFill>
                <a:blip r:embed="rId3"/>
                <a:stretch>
                  <a:fillRect l="-1285" t="-17801" b="-733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A913591-5B78-DA15-6772-6EC41EC8910C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Single mode approximation and 3 material poles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7847-447D-53B4-1DF3-940F17EF6790}"/>
                  </a:ext>
                </a:extLst>
              </p:cNvPr>
              <p:cNvSpPr txBox="1"/>
              <p:nvPr/>
            </p:nvSpPr>
            <p:spPr>
              <a:xfrm>
                <a:off x="6665011" y="2004271"/>
                <a:ext cx="4955862" cy="204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Helvetica" pitchFamily="2" charset="0"/>
                  </a:rPr>
                  <a:t>Extended coupled oscillator model</a:t>
                </a:r>
              </a:p>
              <a:p>
                <a:pPr algn="ctr"/>
                <a:endParaRPr lang="en-GB" b="1" dirty="0">
                  <a:latin typeface="Helvetica" pitchFamily="2" charset="0"/>
                </a:endParaRPr>
              </a:p>
              <a:p>
                <a:pPr algn="ctr"/>
                <a:endParaRPr lang="en-RU" b="1" i="1" dirty="0">
                  <a:latin typeface="Helvetica" pitchFamily="2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RU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RU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RU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RU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RU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𝐄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7847-447D-53B4-1DF3-940F17EF6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011" y="2004271"/>
                <a:ext cx="4955862" cy="2043252"/>
              </a:xfrm>
              <a:prstGeom prst="rect">
                <a:avLst/>
              </a:prstGeom>
              <a:blipFill>
                <a:blip r:embed="rId4"/>
                <a:stretch>
                  <a:fillRect t="-1235" b="-30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485CABD-3F30-E145-E5C5-064BAAE3E720}"/>
              </a:ext>
            </a:extLst>
          </p:cNvPr>
          <p:cNvSpPr txBox="1"/>
          <p:nvPr/>
        </p:nvSpPr>
        <p:spPr>
          <a:xfrm>
            <a:off x="6935563" y="4320358"/>
            <a:ext cx="4414758" cy="841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SzPts val="2200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M.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Balasubrahmaniyam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de-DE" sz="1800" dirty="0">
                <a:latin typeface="Helvetica" pitchFamily="2" charset="0"/>
              </a:rPr>
              <a:t>et al., </a:t>
            </a:r>
          </a:p>
          <a:p>
            <a:pPr algn="ctr">
              <a:lnSpc>
                <a:spcPct val="90000"/>
              </a:lnSpc>
              <a:buSzPts val="2200"/>
            </a:pP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Phys. Rev. B </a:t>
            </a:r>
            <a:r>
              <a:rPr lang="en-GB" b="1" i="0" dirty="0">
                <a:solidFill>
                  <a:srgbClr val="000000"/>
                </a:solidFill>
                <a:effectLst/>
                <a:latin typeface="Helvetica" pitchFamily="2" charset="0"/>
              </a:rPr>
              <a:t>103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" pitchFamily="2" charset="0"/>
              </a:rPr>
              <a:t>, L241407 </a:t>
            </a:r>
            <a:r>
              <a:rPr lang="de-DE" b="0" i="0" dirty="0">
                <a:solidFill>
                  <a:schemeClr val="dk1"/>
                </a:solidFill>
                <a:effectLst/>
                <a:latin typeface="Helvetica" pitchFamily="2" charset="0"/>
              </a:rPr>
              <a:t>(2021)</a:t>
            </a:r>
            <a:endParaRPr lang="de-DE" sz="1800" dirty="0">
              <a:solidFill>
                <a:schemeClr val="dk1"/>
              </a:solidFill>
              <a:latin typeface="Helvetica" pitchFamily="2" charset="0"/>
            </a:endParaRPr>
          </a:p>
          <a:p>
            <a:pPr algn="ctr">
              <a:lnSpc>
                <a:spcPct val="90000"/>
              </a:lnSpc>
              <a:buSzPts val="2200"/>
            </a:pPr>
            <a:endParaRPr lang="de-DE" sz="1800" dirty="0">
              <a:solidFill>
                <a:schemeClr val="dk1"/>
              </a:solidFill>
              <a:latin typeface="Helvetica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9AE9EA-B4DD-BC16-BB7D-D7E6D6E9C099}"/>
              </a:ext>
            </a:extLst>
          </p:cNvPr>
          <p:cNvSpPr/>
          <p:nvPr/>
        </p:nvSpPr>
        <p:spPr>
          <a:xfrm>
            <a:off x="2154264" y="2461899"/>
            <a:ext cx="1658318" cy="7439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589E26-E5D9-0E02-E21F-D1A46ABB6C09}"/>
              </a:ext>
            </a:extLst>
          </p:cNvPr>
          <p:cNvCxnSpPr/>
          <p:nvPr/>
        </p:nvCxnSpPr>
        <p:spPr>
          <a:xfrm flipV="1">
            <a:off x="2355742" y="3275203"/>
            <a:ext cx="371960" cy="17329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92873D-7774-61ED-DF4E-538E88D2AAA7}"/>
              </a:ext>
            </a:extLst>
          </p:cNvPr>
          <p:cNvSpPr txBox="1"/>
          <p:nvPr/>
        </p:nvSpPr>
        <p:spPr>
          <a:xfrm>
            <a:off x="587026" y="5161935"/>
            <a:ext cx="322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Helvetica" pitchFamily="2" charset="0"/>
              </a:rPr>
              <a:t>There is an additional shift in the first diagonal element.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20" name="Slide Number Placeholder 17">
            <a:extLst>
              <a:ext uri="{FF2B5EF4-FFF2-40B4-BE49-F238E27FC236}">
                <a16:creationId xmlns:a16="http://schemas.microsoft.com/office/drawing/2014/main" id="{7B3C14F4-0EE4-5589-C0F6-6265E699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13E23C-C356-DD4D-4536-21A3DE4900EB}"/>
                  </a:ext>
                </a:extLst>
              </p:cNvPr>
              <p:cNvSpPr txBox="1"/>
              <p:nvPr/>
            </p:nvSpPr>
            <p:spPr>
              <a:xfrm>
                <a:off x="3581401" y="5426890"/>
                <a:ext cx="3807418" cy="1294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RU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dirty="0"/>
                  <a:t> - </a:t>
                </a:r>
                <a:r>
                  <a:rPr lang="en-GB" dirty="0">
                    <a:latin typeface="Helvetica" pitchFamily="2" charset="0"/>
                  </a:rPr>
                  <a:t>overlap between the n-</a:t>
                </a:r>
                <a:r>
                  <a:rPr lang="en-GB" dirty="0" err="1">
                    <a:latin typeface="Helvetica" pitchFamily="2" charset="0"/>
                  </a:rPr>
                  <a:t>th</a:t>
                </a:r>
                <a:r>
                  <a:rPr lang="en-GB" dirty="0">
                    <a:latin typeface="Helvetica" pitchFamily="2" charset="0"/>
                  </a:rPr>
                  <a:t> electromagnetic mode and the induced polarization of the p-</a:t>
                </a:r>
                <a:r>
                  <a:rPr lang="en-GB" dirty="0" err="1">
                    <a:latin typeface="Helvetica" pitchFamily="2" charset="0"/>
                  </a:rPr>
                  <a:t>th</a:t>
                </a:r>
                <a:r>
                  <a:rPr lang="en-GB" dirty="0">
                    <a:latin typeface="Helvetica" pitchFamily="2" charset="0"/>
                  </a:rPr>
                  <a:t> material </a:t>
                </a:r>
                <a:r>
                  <a:rPr lang="en-US" dirty="0">
                    <a:latin typeface="Helvetica" pitchFamily="2" charset="0"/>
                  </a:rPr>
                  <a:t>pole</a:t>
                </a:r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13E23C-C356-DD4D-4536-21A3DE490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1" y="5426890"/>
                <a:ext cx="3807418" cy="1294585"/>
              </a:xfrm>
              <a:prstGeom prst="rect">
                <a:avLst/>
              </a:prstGeom>
              <a:blipFill>
                <a:blip r:embed="rId5"/>
                <a:stretch>
                  <a:fillRect t="-35922" r="-1333" b="-679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3442107-9D68-B6C3-ABAD-A550A9E25599}"/>
              </a:ext>
            </a:extLst>
          </p:cNvPr>
          <p:cNvCxnSpPr>
            <a:cxnSpLocks/>
          </p:cNvCxnSpPr>
          <p:nvPr/>
        </p:nvCxnSpPr>
        <p:spPr>
          <a:xfrm flipV="1">
            <a:off x="5610384" y="4407365"/>
            <a:ext cx="388634" cy="10149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C5A608B7-DCFF-0FD8-154F-7CC3A852E3EA}"/>
              </a:ext>
            </a:extLst>
          </p:cNvPr>
          <p:cNvSpPr/>
          <p:nvPr/>
        </p:nvSpPr>
        <p:spPr>
          <a:xfrm>
            <a:off x="5866215" y="3017460"/>
            <a:ext cx="478499" cy="1263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5903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/>
      <p:bldP spid="3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66AD5-1316-5049-6686-739CE6F8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8</a:t>
            </a:fld>
            <a:endParaRPr lang="en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F48BA-6FB6-7B2F-1107-DDBE3C89CAAF}"/>
              </a:ext>
            </a:extLst>
          </p:cNvPr>
          <p:cNvSpPr txBox="1"/>
          <p:nvPr/>
        </p:nvSpPr>
        <p:spPr>
          <a:xfrm>
            <a:off x="3171645" y="2932982"/>
            <a:ext cx="584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sz="3600" dirty="0">
                <a:latin typeface="Helvetica" pitchFamily="2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45131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DBFE-F4CE-D01B-091A-1C1D9FA8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78912D46-FA05-5651-113C-FD43DAC56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01" y="976115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28C7ED86-17FD-7C60-7C03-CD0BDED34741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C0EC734-0830-8C11-3D99-C7A72DE8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BF640A-60D8-2D8D-DBF3-E5ACDCA4D0B0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Result</a:t>
            </a:r>
            <a:r>
              <a:rPr lang="ru-RU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– 3</a:t>
            </a:r>
            <a:r>
              <a:rPr lang="ru-RU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material</a:t>
            </a: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 poles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0F2AB-090C-F54B-1AD5-B87067EF4BC1}"/>
              </a:ext>
            </a:extLst>
          </p:cNvPr>
          <p:cNvSpPr txBox="1"/>
          <p:nvPr/>
        </p:nvSpPr>
        <p:spPr>
          <a:xfrm>
            <a:off x="942701" y="4948196"/>
            <a:ext cx="3009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br>
              <a:rPr lang="en-RU" dirty="0"/>
            </a:br>
            <a:r>
              <a:rPr lang="en-RU" dirty="0"/>
              <a:t>In the basis there are 2N-1 terms  (including –conj(k</a:t>
            </a:r>
            <a:r>
              <a:rPr lang="en-US" baseline="-25000" dirty="0" err="1"/>
              <a:t>i</a:t>
            </a:r>
            <a:r>
              <a:rPr lang="en-RU" dirty="0"/>
              <a:t>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86D5A-59AC-5EC9-CD77-906F67471FEA}"/>
              </a:ext>
            </a:extLst>
          </p:cNvPr>
          <p:cNvSpPr/>
          <p:nvPr/>
        </p:nvSpPr>
        <p:spPr>
          <a:xfrm>
            <a:off x="867600" y="225000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BD069-ADA3-E7E8-D158-F754A5CDE4EB}"/>
              </a:ext>
            </a:extLst>
          </p:cNvPr>
          <p:cNvSpPr txBox="1"/>
          <p:nvPr/>
        </p:nvSpPr>
        <p:spPr>
          <a:xfrm>
            <a:off x="222599" y="184852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204AAC-19F6-0CC9-8A53-E5AB4ECC9AF2}"/>
                  </a:ext>
                </a:extLst>
              </p:cNvPr>
              <p:cNvSpPr txBox="1"/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(no mat. poles)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204AAC-19F6-0CC9-8A53-E5AB4ECC9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6B31E95-2ED6-B202-21FE-4B56A6FFF4F2}"/>
              </a:ext>
            </a:extLst>
          </p:cNvPr>
          <p:cNvSpPr/>
          <p:nvPr/>
        </p:nvSpPr>
        <p:spPr>
          <a:xfrm>
            <a:off x="867600" y="392217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8845E-5E00-2488-1D70-F559945843C5}"/>
              </a:ext>
            </a:extLst>
          </p:cNvPr>
          <p:cNvSpPr txBox="1"/>
          <p:nvPr/>
        </p:nvSpPr>
        <p:spPr>
          <a:xfrm>
            <a:off x="222599" y="352069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07807-B558-6869-BFAA-EE2FCC2EC345}"/>
                  </a:ext>
                </a:extLst>
              </p:cNvPr>
              <p:cNvSpPr txBox="1"/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</a:t>
                </a:r>
                <a14:m>
                  <m:oMath xmlns:m="http://schemas.openxmlformats.org/officeDocument/2006/math">
                    <m:r>
                      <a:rPr lang="en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207807-B558-6869-BFAA-EE2FCC2E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>
            <a:extLst>
              <a:ext uri="{FF2B5EF4-FFF2-40B4-BE49-F238E27FC236}">
                <a16:creationId xmlns:a16="http://schemas.microsoft.com/office/drawing/2014/main" id="{EC2E70D8-110F-0942-A091-2839FAB1E0DA}"/>
              </a:ext>
            </a:extLst>
          </p:cNvPr>
          <p:cNvSpPr/>
          <p:nvPr/>
        </p:nvSpPr>
        <p:spPr>
          <a:xfrm rot="5400000">
            <a:off x="2424545" y="3075712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E1071C-B40D-E07A-C2FD-453A074463A7}"/>
              </a:ext>
            </a:extLst>
          </p:cNvPr>
          <p:cNvCxnSpPr/>
          <p:nvPr/>
        </p:nvCxnSpPr>
        <p:spPr>
          <a:xfrm>
            <a:off x="10766176" y="4557368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ED8141-C1A6-8012-A081-0EE547B11AAD}"/>
              </a:ext>
            </a:extLst>
          </p:cNvPr>
          <p:cNvCxnSpPr/>
          <p:nvPr/>
        </p:nvCxnSpPr>
        <p:spPr>
          <a:xfrm>
            <a:off x="10766176" y="4738965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66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5" grpId="0"/>
      <p:bldP spid="9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C0BE-6989-77F7-38BE-4E127AE8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number of images&#10;&#10;Description automatically generated with medium confidence">
            <a:extLst>
              <a:ext uri="{FF2B5EF4-FFF2-40B4-BE49-F238E27FC236}">
                <a16:creationId xmlns:a16="http://schemas.microsoft.com/office/drawing/2014/main" id="{DE8DF085-29F1-4784-7DC6-ABF36487A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00" y="976115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585A1FC3-D12B-28EF-8256-7D7158F86DC3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D1E4C00-BA4D-51CC-E388-5AE3C829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DD69E2-AC10-F131-9944-F180A4827280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Result</a:t>
            </a:r>
            <a:r>
              <a:rPr lang="ru-RU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– 1st</a:t>
            </a:r>
            <a:r>
              <a:rPr lang="ru-RU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material</a:t>
            </a: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 pole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F2BB4-50D7-95C0-D7AA-581C973D8366}"/>
              </a:ext>
            </a:extLst>
          </p:cNvPr>
          <p:cNvSpPr txBox="1"/>
          <p:nvPr/>
        </p:nvSpPr>
        <p:spPr>
          <a:xfrm>
            <a:off x="942701" y="4948196"/>
            <a:ext cx="3009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br>
              <a:rPr lang="en-RU" dirty="0"/>
            </a:br>
            <a:r>
              <a:rPr lang="en-RU" dirty="0"/>
              <a:t>In the basis there are 2N-1 terms  (including –conj(k</a:t>
            </a:r>
            <a:r>
              <a:rPr lang="en-US" baseline="-25000" dirty="0" err="1"/>
              <a:t>i</a:t>
            </a:r>
            <a:r>
              <a:rPr lang="en-RU" dirty="0"/>
              <a:t>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D185D-10D3-42D4-E86F-4A91B24137E3}"/>
              </a:ext>
            </a:extLst>
          </p:cNvPr>
          <p:cNvSpPr/>
          <p:nvPr/>
        </p:nvSpPr>
        <p:spPr>
          <a:xfrm>
            <a:off x="867600" y="225000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778F2-D55A-7DBB-D315-75202C446DDB}"/>
              </a:ext>
            </a:extLst>
          </p:cNvPr>
          <p:cNvSpPr txBox="1"/>
          <p:nvPr/>
        </p:nvSpPr>
        <p:spPr>
          <a:xfrm>
            <a:off x="222599" y="184852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7748DC-4C50-B79B-3085-3F1EA0A16D4E}"/>
                  </a:ext>
                </a:extLst>
              </p:cNvPr>
              <p:cNvSpPr txBox="1"/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(no mat. poles)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7748DC-4C50-B79B-3085-3F1EA0A16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374CD26-2863-12E4-4758-BFB99951A0E7}"/>
              </a:ext>
            </a:extLst>
          </p:cNvPr>
          <p:cNvSpPr/>
          <p:nvPr/>
        </p:nvSpPr>
        <p:spPr>
          <a:xfrm>
            <a:off x="867600" y="392217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2781D-02CE-CDEF-1840-C6E35398AC13}"/>
              </a:ext>
            </a:extLst>
          </p:cNvPr>
          <p:cNvSpPr txBox="1"/>
          <p:nvPr/>
        </p:nvSpPr>
        <p:spPr>
          <a:xfrm>
            <a:off x="222599" y="352069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9C3D8D-044A-01A7-C594-78FED02087E5}"/>
                  </a:ext>
                </a:extLst>
              </p:cNvPr>
              <p:cNvSpPr txBox="1"/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</a:t>
                </a:r>
                <a14:m>
                  <m:oMath xmlns:m="http://schemas.openxmlformats.org/officeDocument/2006/math">
                    <m:r>
                      <a:rPr lang="en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9C3D8D-044A-01A7-C594-78FED0208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>
            <a:extLst>
              <a:ext uri="{FF2B5EF4-FFF2-40B4-BE49-F238E27FC236}">
                <a16:creationId xmlns:a16="http://schemas.microsoft.com/office/drawing/2014/main" id="{D28114D7-4160-92FE-2A37-52B29B741E9F}"/>
              </a:ext>
            </a:extLst>
          </p:cNvPr>
          <p:cNvSpPr/>
          <p:nvPr/>
        </p:nvSpPr>
        <p:spPr>
          <a:xfrm rot="5400000">
            <a:off x="2424545" y="3075712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7A5316-C9E0-7B4E-92A4-8C154DABB420}"/>
              </a:ext>
            </a:extLst>
          </p:cNvPr>
          <p:cNvCxnSpPr/>
          <p:nvPr/>
        </p:nvCxnSpPr>
        <p:spPr>
          <a:xfrm>
            <a:off x="10766176" y="4546857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489E40-8F04-1293-929B-D4AE9522684D}"/>
              </a:ext>
            </a:extLst>
          </p:cNvPr>
          <p:cNvCxnSpPr/>
          <p:nvPr/>
        </p:nvCxnSpPr>
        <p:spPr>
          <a:xfrm>
            <a:off x="10766176" y="4728454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21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EC1F-9B39-7EAC-12A3-218BB0B4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person's reaction&#10;&#10;Description automatically generated with medium confidence">
            <a:extLst>
              <a:ext uri="{FF2B5EF4-FFF2-40B4-BE49-F238E27FC236}">
                <a16:creationId xmlns:a16="http://schemas.microsoft.com/office/drawing/2014/main" id="{4F749352-21A0-E10B-F9A8-F1D0F0C43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00" y="975600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9FA32D5A-4EC3-6F02-1BCE-97F9136E1C8F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6686377-B6E1-1EA1-78D7-012F7C55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720D72-84B8-5ED5-01E8-63DE3443A07B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800" b="1" dirty="0">
                <a:solidFill>
                  <a:srgbClr val="000000"/>
                </a:solidFill>
                <a:latin typeface="Helvetica" pitchFamily="2" charset="0"/>
              </a:rPr>
              <a:t>A</a:t>
            </a:r>
            <a:r>
              <a:rPr lang="en-GB" sz="2800" b="1" dirty="0">
                <a:solidFill>
                  <a:srgbClr val="000000"/>
                </a:solidFill>
                <a:effectLst/>
                <a:latin typeface="Helvetica" pitchFamily="2" charset="0"/>
              </a:rPr>
              <a:t>rtificially increasing the oscillator strength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46A7D-0E42-3872-238F-F56E21E2DD3C}"/>
              </a:ext>
            </a:extLst>
          </p:cNvPr>
          <p:cNvSpPr txBox="1"/>
          <p:nvPr/>
        </p:nvSpPr>
        <p:spPr>
          <a:xfrm>
            <a:off x="942701" y="4948196"/>
            <a:ext cx="3009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br>
              <a:rPr lang="en-RU" dirty="0"/>
            </a:br>
            <a:r>
              <a:rPr lang="en-RU" dirty="0"/>
              <a:t>In the basis there are 2N-1 terms  (including –conj(k</a:t>
            </a:r>
            <a:r>
              <a:rPr lang="en-US" baseline="-25000" dirty="0" err="1"/>
              <a:t>i</a:t>
            </a:r>
            <a:r>
              <a:rPr lang="en-RU" dirty="0"/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B3C89E-63CA-825A-C596-9102CEF4E6F7}"/>
              </a:ext>
            </a:extLst>
          </p:cNvPr>
          <p:cNvSpPr/>
          <p:nvPr/>
        </p:nvSpPr>
        <p:spPr>
          <a:xfrm>
            <a:off x="867600" y="225000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19DDF-4476-ACED-B1F7-AC0BB178505A}"/>
              </a:ext>
            </a:extLst>
          </p:cNvPr>
          <p:cNvSpPr txBox="1"/>
          <p:nvPr/>
        </p:nvSpPr>
        <p:spPr>
          <a:xfrm>
            <a:off x="222599" y="184852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89CF8A-3DC9-FA23-C717-0C866F5C6EFF}"/>
                  </a:ext>
                </a:extLst>
              </p:cNvPr>
              <p:cNvSpPr txBox="1"/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(no mat. poles)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89CF8A-3DC9-FA23-C717-0C866F5C6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A500134-B566-93B6-4338-55B3BBF58580}"/>
              </a:ext>
            </a:extLst>
          </p:cNvPr>
          <p:cNvSpPr/>
          <p:nvPr/>
        </p:nvSpPr>
        <p:spPr>
          <a:xfrm>
            <a:off x="867600" y="392217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D6B44-453E-C700-219F-06D3C568FDDE}"/>
              </a:ext>
            </a:extLst>
          </p:cNvPr>
          <p:cNvSpPr txBox="1"/>
          <p:nvPr/>
        </p:nvSpPr>
        <p:spPr>
          <a:xfrm>
            <a:off x="222599" y="352069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E0378D-218D-29A2-D015-D85271604F86}"/>
                  </a:ext>
                </a:extLst>
              </p:cNvPr>
              <p:cNvSpPr txBox="1"/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SURMOF </a:t>
                </a:r>
                <a14:m>
                  <m:oMath xmlns:m="http://schemas.openxmlformats.org/officeDocument/2006/math">
                    <m:r>
                      <a:rPr lang="en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E0378D-218D-29A2-D015-D85271604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3C8FD81C-C731-F074-F46F-9B197E20B9AC}"/>
              </a:ext>
            </a:extLst>
          </p:cNvPr>
          <p:cNvSpPr/>
          <p:nvPr/>
        </p:nvSpPr>
        <p:spPr>
          <a:xfrm rot="5400000">
            <a:off x="2424545" y="3075712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94D2E9-89D6-1DBE-FA9D-2D4460141BD4}"/>
              </a:ext>
            </a:extLst>
          </p:cNvPr>
          <p:cNvCxnSpPr/>
          <p:nvPr/>
        </p:nvCxnSpPr>
        <p:spPr>
          <a:xfrm>
            <a:off x="10766176" y="4546857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27B688-6193-D138-8FF4-F74B3FC83B39}"/>
              </a:ext>
            </a:extLst>
          </p:cNvPr>
          <p:cNvCxnSpPr/>
          <p:nvPr/>
        </p:nvCxnSpPr>
        <p:spPr>
          <a:xfrm>
            <a:off x="10766176" y="4728454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91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9F69-414A-F78D-4D32-192D45581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9856117E-155E-88DF-CCEF-85E89F58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600" y="903600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618B641D-F4AC-C8BF-1609-7357F0B471F8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BE266DF-904F-F095-CC74-913D9D3A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F8D0B1-9C8A-C9D9-C6E7-E5E4F4BD614C}"/>
              </a:ext>
            </a:extLst>
          </p:cNvPr>
          <p:cNvSpPr txBox="1"/>
          <p:nvPr/>
        </p:nvSpPr>
        <p:spPr>
          <a:xfrm>
            <a:off x="1521135" y="217023"/>
            <a:ext cx="10313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Result</a:t>
            </a:r>
            <a:r>
              <a:rPr lang="ru-RU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r>
              <a:rPr lang="en-GB" sz="2800" b="1" dirty="0">
                <a:solidFill>
                  <a:prstClr val="black"/>
                </a:solidFill>
                <a:latin typeface="Helvetica" pitchFamily="2" charset="0"/>
              </a:rPr>
              <a:t>– </a:t>
            </a: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Silver slab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A2B02-0260-F1D2-1384-9BB24E12AF2E}"/>
              </a:ext>
            </a:extLst>
          </p:cNvPr>
          <p:cNvSpPr txBox="1"/>
          <p:nvPr/>
        </p:nvSpPr>
        <p:spPr>
          <a:xfrm>
            <a:off x="942701" y="4948196"/>
            <a:ext cx="3009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br>
              <a:rPr lang="en-RU" dirty="0"/>
            </a:br>
            <a:r>
              <a:rPr lang="en-RU" dirty="0"/>
              <a:t>In the basis there are 2N-1 terms  (including –conj(k</a:t>
            </a:r>
            <a:r>
              <a:rPr lang="en-US" baseline="-25000" dirty="0" err="1"/>
              <a:t>i</a:t>
            </a:r>
            <a:r>
              <a:rPr lang="en-RU" dirty="0"/>
              <a:t>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8CA70E-5AC1-852B-EC65-C6259044F49D}"/>
              </a:ext>
            </a:extLst>
          </p:cNvPr>
          <p:cNvSpPr/>
          <p:nvPr/>
        </p:nvSpPr>
        <p:spPr>
          <a:xfrm>
            <a:off x="867600" y="2250000"/>
            <a:ext cx="3435178" cy="545436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2292D-3BC4-A1E7-DF84-98F872FF0173}"/>
              </a:ext>
            </a:extLst>
          </p:cNvPr>
          <p:cNvSpPr txBox="1"/>
          <p:nvPr/>
        </p:nvSpPr>
        <p:spPr>
          <a:xfrm>
            <a:off x="222599" y="184852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5A6B31-4DB1-A1FD-E728-6119F191BF31}"/>
                  </a:ext>
                </a:extLst>
              </p:cNvPr>
              <p:cNvSpPr txBox="1"/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SILVER (no Drude poles)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5A6B31-4DB1-A1FD-E728-6119F191B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2351907"/>
                <a:ext cx="3344774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114C433-4597-9D2B-65AF-3838C50A7A44}"/>
              </a:ext>
            </a:extLst>
          </p:cNvPr>
          <p:cNvSpPr/>
          <p:nvPr/>
        </p:nvSpPr>
        <p:spPr>
          <a:xfrm>
            <a:off x="867600" y="3922170"/>
            <a:ext cx="3435178" cy="545436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1179F-CB3C-2598-100D-502F9BA21635}"/>
              </a:ext>
            </a:extLst>
          </p:cNvPr>
          <p:cNvSpPr txBox="1"/>
          <p:nvPr/>
        </p:nvSpPr>
        <p:spPr>
          <a:xfrm>
            <a:off x="222599" y="352069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365A7E-8ACA-3F1D-8087-DA3C82D76FAF}"/>
                  </a:ext>
                </a:extLst>
              </p:cNvPr>
              <p:cNvSpPr txBox="1"/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dirty="0">
                    <a:latin typeface="Helvetica" pitchFamily="2" charset="0"/>
                  </a:rPr>
                  <a:t>SILVER </a:t>
                </a:r>
                <a14:m>
                  <m:oMath xmlns:m="http://schemas.openxmlformats.org/officeDocument/2006/math">
                    <m:r>
                      <a:rPr lang="en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RU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365A7E-8ACA-3F1D-8087-DA3C82D76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2" y="4024077"/>
                <a:ext cx="3344774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>
            <a:extLst>
              <a:ext uri="{FF2B5EF4-FFF2-40B4-BE49-F238E27FC236}">
                <a16:creationId xmlns:a16="http://schemas.microsoft.com/office/drawing/2014/main" id="{1BC013FB-F645-BD53-B1CA-C80130024853}"/>
              </a:ext>
            </a:extLst>
          </p:cNvPr>
          <p:cNvSpPr/>
          <p:nvPr/>
        </p:nvSpPr>
        <p:spPr>
          <a:xfrm rot="5400000">
            <a:off x="2424545" y="3075712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EDB446C-B9A6-C89A-7D23-DA099AB01CC9}"/>
              </a:ext>
            </a:extLst>
          </p:cNvPr>
          <p:cNvCxnSpPr/>
          <p:nvPr/>
        </p:nvCxnSpPr>
        <p:spPr>
          <a:xfrm>
            <a:off x="10818726" y="4483797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927FB3-E735-92CF-82CA-28731ACA3277}"/>
              </a:ext>
            </a:extLst>
          </p:cNvPr>
          <p:cNvCxnSpPr/>
          <p:nvPr/>
        </p:nvCxnSpPr>
        <p:spPr>
          <a:xfrm>
            <a:off x="10818726" y="4665394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6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9AF8-E28B-8BE9-E264-A861753F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comparison of graphs with text&#10;&#10;Description automatically generated with medium confidence">
            <a:extLst>
              <a:ext uri="{FF2B5EF4-FFF2-40B4-BE49-F238E27FC236}">
                <a16:creationId xmlns:a16="http://schemas.microsoft.com/office/drawing/2014/main" id="{EB81362D-34C7-2B5D-0E0F-47E687DDE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00" y="975600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5C204CBA-D05F-4204-8B8C-D5D928DCFC21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D6E9AA5-BA9E-1BB4-59D5-92735F5D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507BAC-15DD-A845-2E89-635DC6FFE715}"/>
              </a:ext>
            </a:extLst>
          </p:cNvPr>
          <p:cNvSpPr txBox="1"/>
          <p:nvPr/>
        </p:nvSpPr>
        <p:spPr>
          <a:xfrm>
            <a:off x="1521135" y="217023"/>
            <a:ext cx="10313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Plasmon-exciton-polariton and RSE - Intermediate step </a:t>
            </a:r>
          </a:p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8AE90-E7EC-8DBD-6F38-D1C15D778C6D}"/>
              </a:ext>
            </a:extLst>
          </p:cNvPr>
          <p:cNvSpPr txBox="1"/>
          <p:nvPr/>
        </p:nvSpPr>
        <p:spPr>
          <a:xfrm>
            <a:off x="810232" y="4728755"/>
            <a:ext cx="3920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endParaRPr lang="en-RU" dirty="0"/>
          </a:p>
          <a:p>
            <a:r>
              <a:rPr lang="en-GB" dirty="0"/>
              <a:t>Thickness of 1st </a:t>
            </a:r>
            <a:r>
              <a:rPr lang="en-US" dirty="0"/>
              <a:t>Silver</a:t>
            </a:r>
            <a:r>
              <a:rPr lang="en-GB" dirty="0"/>
              <a:t> layer</a:t>
            </a:r>
            <a:r>
              <a:rPr lang="ru-RU" dirty="0"/>
              <a:t> = 0</a:t>
            </a:r>
            <a:r>
              <a:rPr lang="en-US" dirty="0"/>
              <a:t>.01 um</a:t>
            </a:r>
          </a:p>
          <a:p>
            <a:endParaRPr lang="en-US" dirty="0"/>
          </a:p>
          <a:p>
            <a:r>
              <a:rPr lang="en-GB" dirty="0"/>
              <a:t>Thickness of 2nd Silver layer</a:t>
            </a:r>
            <a:r>
              <a:rPr lang="ru-RU" dirty="0"/>
              <a:t> = 0</a:t>
            </a:r>
            <a:r>
              <a:rPr lang="en-US" dirty="0"/>
              <a:t>.03 um</a:t>
            </a:r>
          </a:p>
          <a:p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0C002-B3E8-285B-E3B8-4DAB7397573A}"/>
              </a:ext>
            </a:extLst>
          </p:cNvPr>
          <p:cNvSpPr/>
          <p:nvPr/>
        </p:nvSpPr>
        <p:spPr>
          <a:xfrm>
            <a:off x="839299" y="1859397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C02EC-7BEC-A7B9-F653-C11594B981D4}"/>
              </a:ext>
            </a:extLst>
          </p:cNvPr>
          <p:cNvSpPr/>
          <p:nvPr/>
        </p:nvSpPr>
        <p:spPr>
          <a:xfrm>
            <a:off x="839299" y="2627296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15563D-D389-097E-E557-F2E8317532D2}"/>
              </a:ext>
            </a:extLst>
          </p:cNvPr>
          <p:cNvSpPr/>
          <p:nvPr/>
        </p:nvSpPr>
        <p:spPr>
          <a:xfrm>
            <a:off x="839299" y="208186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D9783-A613-3E30-26E4-9684086B14DA}"/>
              </a:ext>
            </a:extLst>
          </p:cNvPr>
          <p:cNvSpPr txBox="1"/>
          <p:nvPr/>
        </p:nvSpPr>
        <p:spPr>
          <a:xfrm>
            <a:off x="839299" y="117251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Fabry-perot cavity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FE238-DE1F-C267-511F-385631631846}"/>
              </a:ext>
            </a:extLst>
          </p:cNvPr>
          <p:cNvSpPr txBox="1"/>
          <p:nvPr/>
        </p:nvSpPr>
        <p:spPr>
          <a:xfrm>
            <a:off x="839299" y="180259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27D73-5554-BE44-0E77-7C3B962F28EA}"/>
              </a:ext>
            </a:extLst>
          </p:cNvPr>
          <p:cNvSpPr txBox="1"/>
          <p:nvPr/>
        </p:nvSpPr>
        <p:spPr>
          <a:xfrm>
            <a:off x="884501" y="21791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5BF18-97E7-EE5A-F159-53B38D7A9922}"/>
              </a:ext>
            </a:extLst>
          </p:cNvPr>
          <p:cNvSpPr txBox="1"/>
          <p:nvPr/>
        </p:nvSpPr>
        <p:spPr>
          <a:xfrm>
            <a:off x="839299" y="25697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53C3A-9C84-639C-AAFD-1A7D4F40C72F}"/>
              </a:ext>
            </a:extLst>
          </p:cNvPr>
          <p:cNvSpPr/>
          <p:nvPr/>
        </p:nvSpPr>
        <p:spPr>
          <a:xfrm>
            <a:off x="839299" y="3456985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594F2-B70B-BD5A-626B-84CBA53464EB}"/>
              </a:ext>
            </a:extLst>
          </p:cNvPr>
          <p:cNvSpPr/>
          <p:nvPr/>
        </p:nvSpPr>
        <p:spPr>
          <a:xfrm>
            <a:off x="839299" y="422488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A25E4-F360-E5CE-D057-D25F4F91C43C}"/>
              </a:ext>
            </a:extLst>
          </p:cNvPr>
          <p:cNvSpPr/>
          <p:nvPr/>
        </p:nvSpPr>
        <p:spPr>
          <a:xfrm>
            <a:off x="839299" y="3679448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A11D6-9179-C8F4-24E3-DA43B97F07FF}"/>
              </a:ext>
            </a:extLst>
          </p:cNvPr>
          <p:cNvSpPr txBox="1"/>
          <p:nvPr/>
        </p:nvSpPr>
        <p:spPr>
          <a:xfrm>
            <a:off x="839299" y="3400181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C840A-A1DF-2396-F25F-61890A19E7E6}"/>
              </a:ext>
            </a:extLst>
          </p:cNvPr>
          <p:cNvSpPr txBox="1"/>
          <p:nvPr/>
        </p:nvSpPr>
        <p:spPr>
          <a:xfrm>
            <a:off x="884501" y="37767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0B2B7-1C27-3640-4274-A6EA1C749D25}"/>
              </a:ext>
            </a:extLst>
          </p:cNvPr>
          <p:cNvSpPr txBox="1"/>
          <p:nvPr/>
        </p:nvSpPr>
        <p:spPr>
          <a:xfrm>
            <a:off x="839299" y="41673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7CC6F71-084A-5DB3-2F50-8268EDCEBCD8}"/>
              </a:ext>
            </a:extLst>
          </p:cNvPr>
          <p:cNvSpPr/>
          <p:nvPr/>
        </p:nvSpPr>
        <p:spPr>
          <a:xfrm rot="5400000">
            <a:off x="2366213" y="2964109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7CDF02-A25F-AB1B-CE04-1CA080FE35EE}"/>
              </a:ext>
            </a:extLst>
          </p:cNvPr>
          <p:cNvCxnSpPr/>
          <p:nvPr/>
        </p:nvCxnSpPr>
        <p:spPr>
          <a:xfrm>
            <a:off x="10745156" y="4210530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5B2F76-C29E-7BDD-C0B1-210AC1E63645}"/>
              </a:ext>
            </a:extLst>
          </p:cNvPr>
          <p:cNvCxnSpPr/>
          <p:nvPr/>
        </p:nvCxnSpPr>
        <p:spPr>
          <a:xfrm>
            <a:off x="10745156" y="4392127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66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083B-0DC3-94F5-CB54-31A6AFC0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D0D6D08F-AC28-66D6-2EBF-6FE2B5BE4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00" y="976116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680C97E6-9597-3B9A-1663-6FBD7DE03307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3BC5659-2338-FE50-4EF4-ED38F208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2668E-7370-1C35-D4C3-0487BB13CDF7}"/>
              </a:ext>
            </a:extLst>
          </p:cNvPr>
          <p:cNvSpPr txBox="1"/>
          <p:nvPr/>
        </p:nvSpPr>
        <p:spPr>
          <a:xfrm>
            <a:off x="1521135" y="217023"/>
            <a:ext cx="10313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Plasmon-exciton-polariton and RSE</a:t>
            </a:r>
          </a:p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CBF11B-F1F8-CA45-CC9F-86F6689CA276}"/>
              </a:ext>
            </a:extLst>
          </p:cNvPr>
          <p:cNvSpPr txBox="1"/>
          <p:nvPr/>
        </p:nvSpPr>
        <p:spPr>
          <a:xfrm>
            <a:off x="810232" y="4728755"/>
            <a:ext cx="3908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endParaRPr lang="en-RU" dirty="0"/>
          </a:p>
          <a:p>
            <a:r>
              <a:rPr lang="en-GB" dirty="0"/>
              <a:t>Thickness of 1st </a:t>
            </a:r>
            <a:r>
              <a:rPr lang="en-US" dirty="0"/>
              <a:t>Silver</a:t>
            </a:r>
            <a:r>
              <a:rPr lang="en-GB" dirty="0"/>
              <a:t> layer</a:t>
            </a:r>
            <a:r>
              <a:rPr lang="ru-RU" dirty="0"/>
              <a:t> = 0</a:t>
            </a:r>
            <a:r>
              <a:rPr lang="en-US" dirty="0"/>
              <a:t>.01 um</a:t>
            </a:r>
          </a:p>
          <a:p>
            <a:endParaRPr lang="en-US" dirty="0"/>
          </a:p>
          <a:p>
            <a:r>
              <a:rPr lang="en-GB" dirty="0"/>
              <a:t>Thickness of 2nd Silver layer</a:t>
            </a:r>
            <a:r>
              <a:rPr lang="ru-RU" dirty="0"/>
              <a:t> = 0</a:t>
            </a:r>
            <a:r>
              <a:rPr lang="en-US" dirty="0"/>
              <a:t>.03 um</a:t>
            </a:r>
          </a:p>
          <a:p>
            <a:endParaRPr lang="en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44A99-F932-6F9C-82A4-688D62C663F0}"/>
              </a:ext>
            </a:extLst>
          </p:cNvPr>
          <p:cNvSpPr/>
          <p:nvPr/>
        </p:nvSpPr>
        <p:spPr>
          <a:xfrm>
            <a:off x="839299" y="1859397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29CDD-2164-CC49-8526-77D750FCEF28}"/>
              </a:ext>
            </a:extLst>
          </p:cNvPr>
          <p:cNvSpPr/>
          <p:nvPr/>
        </p:nvSpPr>
        <p:spPr>
          <a:xfrm>
            <a:off x="839299" y="2627296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95A0D-8F7C-C38F-F9D4-C62696B0842B}"/>
              </a:ext>
            </a:extLst>
          </p:cNvPr>
          <p:cNvSpPr/>
          <p:nvPr/>
        </p:nvSpPr>
        <p:spPr>
          <a:xfrm>
            <a:off x="839299" y="208186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EDF09-90F4-6D0C-085E-B4E86A5D54D3}"/>
              </a:ext>
            </a:extLst>
          </p:cNvPr>
          <p:cNvSpPr txBox="1"/>
          <p:nvPr/>
        </p:nvSpPr>
        <p:spPr>
          <a:xfrm>
            <a:off x="839299" y="117251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Fabry-perot cavity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3CCBA-D8C4-9ADD-7B1B-EDC92B18E202}"/>
              </a:ext>
            </a:extLst>
          </p:cNvPr>
          <p:cNvSpPr txBox="1"/>
          <p:nvPr/>
        </p:nvSpPr>
        <p:spPr>
          <a:xfrm>
            <a:off x="839299" y="180259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FB1E5-8B75-D6DB-4EB5-3CB7DA6022D5}"/>
              </a:ext>
            </a:extLst>
          </p:cNvPr>
          <p:cNvSpPr txBox="1"/>
          <p:nvPr/>
        </p:nvSpPr>
        <p:spPr>
          <a:xfrm>
            <a:off x="884501" y="21791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83C87D-B3C3-5F7C-6AD6-6BFDCF9A370E}"/>
              </a:ext>
            </a:extLst>
          </p:cNvPr>
          <p:cNvSpPr txBox="1"/>
          <p:nvPr/>
        </p:nvSpPr>
        <p:spPr>
          <a:xfrm>
            <a:off x="839299" y="25697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2451FD-6D9C-485F-3548-FA8F13C26B27}"/>
              </a:ext>
            </a:extLst>
          </p:cNvPr>
          <p:cNvSpPr/>
          <p:nvPr/>
        </p:nvSpPr>
        <p:spPr>
          <a:xfrm>
            <a:off x="839299" y="3456985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520A6F-7734-461B-1713-4897D4375EF5}"/>
              </a:ext>
            </a:extLst>
          </p:cNvPr>
          <p:cNvSpPr/>
          <p:nvPr/>
        </p:nvSpPr>
        <p:spPr>
          <a:xfrm>
            <a:off x="839299" y="422488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3ADF3F-2744-B60B-842E-55AF4AA91931}"/>
              </a:ext>
            </a:extLst>
          </p:cNvPr>
          <p:cNvSpPr/>
          <p:nvPr/>
        </p:nvSpPr>
        <p:spPr>
          <a:xfrm>
            <a:off x="839299" y="3679448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EA998A-C835-3719-6C86-E9BC5D276AE2}"/>
              </a:ext>
            </a:extLst>
          </p:cNvPr>
          <p:cNvSpPr txBox="1"/>
          <p:nvPr/>
        </p:nvSpPr>
        <p:spPr>
          <a:xfrm>
            <a:off x="839299" y="3400181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4D36D7-E02B-B2FE-45D5-C473FA6F2A74}"/>
              </a:ext>
            </a:extLst>
          </p:cNvPr>
          <p:cNvSpPr txBox="1"/>
          <p:nvPr/>
        </p:nvSpPr>
        <p:spPr>
          <a:xfrm>
            <a:off x="884501" y="37767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CFBF96-0096-9B00-A03E-DAB0A1A8218E}"/>
              </a:ext>
            </a:extLst>
          </p:cNvPr>
          <p:cNvSpPr txBox="1"/>
          <p:nvPr/>
        </p:nvSpPr>
        <p:spPr>
          <a:xfrm>
            <a:off x="839299" y="41673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EC75B568-2E3D-A38A-9604-E47DCD898D50}"/>
              </a:ext>
            </a:extLst>
          </p:cNvPr>
          <p:cNvSpPr/>
          <p:nvPr/>
        </p:nvSpPr>
        <p:spPr>
          <a:xfrm rot="5400000">
            <a:off x="2366213" y="2964109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75357E-FD9D-218E-5D1C-5A1A0CD22E9D}"/>
              </a:ext>
            </a:extLst>
          </p:cNvPr>
          <p:cNvCxnSpPr/>
          <p:nvPr/>
        </p:nvCxnSpPr>
        <p:spPr>
          <a:xfrm>
            <a:off x="10745156" y="4210530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4F4147-B14D-EA1A-7A40-1A91AC055050}"/>
              </a:ext>
            </a:extLst>
          </p:cNvPr>
          <p:cNvCxnSpPr/>
          <p:nvPr/>
        </p:nvCxnSpPr>
        <p:spPr>
          <a:xfrm>
            <a:off x="10745156" y="4392127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6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8B9E-B5D3-3BAA-D5C1-20F0B2F9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A8DFAF07-77CE-7A50-BC31-11C7B7DE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00" y="975600"/>
            <a:ext cx="7467600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489AF178-B015-E337-DF06-EF37CA5A2043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AF7E757-B8A3-AB42-AFA8-2EE9DB28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384408-0B76-1198-C2DD-AA3E05DA564D}"/>
              </a:ext>
            </a:extLst>
          </p:cNvPr>
          <p:cNvSpPr txBox="1"/>
          <p:nvPr/>
        </p:nvSpPr>
        <p:spPr>
          <a:xfrm>
            <a:off x="1521135" y="217023"/>
            <a:ext cx="10313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Plasmon-exciton-polariton and RSE</a:t>
            </a:r>
          </a:p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161A5-26D0-1117-8B9E-B4ABF20E7301}"/>
              </a:ext>
            </a:extLst>
          </p:cNvPr>
          <p:cNvSpPr txBox="1"/>
          <p:nvPr/>
        </p:nvSpPr>
        <p:spPr>
          <a:xfrm>
            <a:off x="810232" y="4728755"/>
            <a:ext cx="3859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N=11 optical poles </a:t>
            </a:r>
            <a:br>
              <a:rPr lang="en-RU" dirty="0"/>
            </a:br>
            <a:endParaRPr lang="en-RU" dirty="0"/>
          </a:p>
          <a:p>
            <a:r>
              <a:rPr lang="en-GB" dirty="0"/>
              <a:t>Thickness of 1st </a:t>
            </a:r>
            <a:r>
              <a:rPr lang="en-US" dirty="0"/>
              <a:t>Silver</a:t>
            </a:r>
            <a:r>
              <a:rPr lang="en-GB" dirty="0"/>
              <a:t> layer</a:t>
            </a:r>
            <a:r>
              <a:rPr lang="ru-RU" dirty="0"/>
              <a:t> = 0</a:t>
            </a:r>
            <a:r>
              <a:rPr lang="en-US" dirty="0"/>
              <a:t>.01 um</a:t>
            </a:r>
          </a:p>
          <a:p>
            <a:endParaRPr lang="en-US" dirty="0"/>
          </a:p>
          <a:p>
            <a:r>
              <a:rPr lang="en-GB" dirty="0"/>
              <a:t>Thickness of 2nd Silver layer</a:t>
            </a:r>
            <a:r>
              <a:rPr lang="ru-RU" dirty="0"/>
              <a:t> = 0</a:t>
            </a:r>
            <a:r>
              <a:rPr lang="en-US" dirty="0"/>
              <a:t>.03 um</a:t>
            </a:r>
          </a:p>
          <a:p>
            <a:endParaRPr lang="en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69DF5-9E9F-98F9-9B4F-B63D3C050B00}"/>
              </a:ext>
            </a:extLst>
          </p:cNvPr>
          <p:cNvSpPr/>
          <p:nvPr/>
        </p:nvSpPr>
        <p:spPr>
          <a:xfrm>
            <a:off x="839299" y="1859397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478F6-2BD9-52FF-D4F1-F0A915FAA1C2}"/>
              </a:ext>
            </a:extLst>
          </p:cNvPr>
          <p:cNvSpPr/>
          <p:nvPr/>
        </p:nvSpPr>
        <p:spPr>
          <a:xfrm>
            <a:off x="839299" y="2627296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E2504D-3979-B74C-FABC-7E13A70842C1}"/>
              </a:ext>
            </a:extLst>
          </p:cNvPr>
          <p:cNvSpPr/>
          <p:nvPr/>
        </p:nvSpPr>
        <p:spPr>
          <a:xfrm>
            <a:off x="839299" y="2081860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FBC84-8932-BD3D-DC95-84D683A3F918}"/>
              </a:ext>
            </a:extLst>
          </p:cNvPr>
          <p:cNvSpPr txBox="1"/>
          <p:nvPr/>
        </p:nvSpPr>
        <p:spPr>
          <a:xfrm>
            <a:off x="839299" y="117251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Fabry-perot cavity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1D5586-C844-FB26-0770-1344ED03C505}"/>
              </a:ext>
            </a:extLst>
          </p:cNvPr>
          <p:cNvSpPr txBox="1"/>
          <p:nvPr/>
        </p:nvSpPr>
        <p:spPr>
          <a:xfrm>
            <a:off x="839299" y="180259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AA0BB9-E9FE-A18A-C7B5-7BD1B4C87C2C}"/>
              </a:ext>
            </a:extLst>
          </p:cNvPr>
          <p:cNvSpPr txBox="1"/>
          <p:nvPr/>
        </p:nvSpPr>
        <p:spPr>
          <a:xfrm>
            <a:off x="884501" y="21791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0AD695-D762-E756-22A2-FA572DE44005}"/>
              </a:ext>
            </a:extLst>
          </p:cNvPr>
          <p:cNvSpPr txBox="1"/>
          <p:nvPr/>
        </p:nvSpPr>
        <p:spPr>
          <a:xfrm>
            <a:off x="839299" y="2569745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62202-8D06-DD91-9847-5F42AD860C09}"/>
              </a:ext>
            </a:extLst>
          </p:cNvPr>
          <p:cNvSpPr/>
          <p:nvPr/>
        </p:nvSpPr>
        <p:spPr>
          <a:xfrm>
            <a:off x="839299" y="3456985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F506AC-39CD-DA95-FA3A-71C283655557}"/>
              </a:ext>
            </a:extLst>
          </p:cNvPr>
          <p:cNvSpPr/>
          <p:nvPr/>
        </p:nvSpPr>
        <p:spPr>
          <a:xfrm>
            <a:off x="839299" y="422488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DB952-662A-3500-B621-4A4E92F23C08}"/>
              </a:ext>
            </a:extLst>
          </p:cNvPr>
          <p:cNvSpPr/>
          <p:nvPr/>
        </p:nvSpPr>
        <p:spPr>
          <a:xfrm>
            <a:off x="839299" y="3679448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6F848-9979-11B3-DE75-963CE82C3D1C}"/>
              </a:ext>
            </a:extLst>
          </p:cNvPr>
          <p:cNvSpPr txBox="1"/>
          <p:nvPr/>
        </p:nvSpPr>
        <p:spPr>
          <a:xfrm>
            <a:off x="839299" y="3400181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3840E-0B9D-7203-6BC3-990BC8473576}"/>
              </a:ext>
            </a:extLst>
          </p:cNvPr>
          <p:cNvSpPr txBox="1"/>
          <p:nvPr/>
        </p:nvSpPr>
        <p:spPr>
          <a:xfrm>
            <a:off x="884501" y="37767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A8A817-DB84-81C9-0281-5F27CC2E131E}"/>
              </a:ext>
            </a:extLst>
          </p:cNvPr>
          <p:cNvSpPr txBox="1"/>
          <p:nvPr/>
        </p:nvSpPr>
        <p:spPr>
          <a:xfrm>
            <a:off x="839299" y="4167333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C4349CE8-A523-23A6-9C57-0D62136DA8B5}"/>
              </a:ext>
            </a:extLst>
          </p:cNvPr>
          <p:cNvSpPr/>
          <p:nvPr/>
        </p:nvSpPr>
        <p:spPr>
          <a:xfrm rot="5400000">
            <a:off x="2366213" y="2964109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5BD1B1-BA70-907C-0E5B-08F1324EBFA2}"/>
              </a:ext>
            </a:extLst>
          </p:cNvPr>
          <p:cNvCxnSpPr/>
          <p:nvPr/>
        </p:nvCxnSpPr>
        <p:spPr>
          <a:xfrm>
            <a:off x="10745156" y="4210530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13FC30-AB16-2BC0-DA85-03EBFD3421B6}"/>
              </a:ext>
            </a:extLst>
          </p:cNvPr>
          <p:cNvCxnSpPr/>
          <p:nvPr/>
        </p:nvCxnSpPr>
        <p:spPr>
          <a:xfrm>
            <a:off x="10745156" y="4392127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337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C236-6D25-3D23-E57E-321A4B22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graph of 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59D23D6E-6BF7-4984-E6CA-5BBC0FF98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073" y="968819"/>
            <a:ext cx="7958328" cy="5689600"/>
          </a:xfrm>
          <a:prstGeom prst="rect">
            <a:avLst/>
          </a:prstGeom>
        </p:spPr>
      </p:pic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35AD11C2-F460-46F9-8680-663D5FC55FB9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39C7CDF-63C2-1AD0-8A05-61713EAC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0C14D9-4A7B-0FAA-26C0-79F7DC503CE4}"/>
              </a:ext>
            </a:extLst>
          </p:cNvPr>
          <p:cNvSpPr txBox="1"/>
          <p:nvPr/>
        </p:nvSpPr>
        <p:spPr>
          <a:xfrm>
            <a:off x="1521135" y="217023"/>
            <a:ext cx="10313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sz="2000" b="1" dirty="0">
                <a:solidFill>
                  <a:prstClr val="black"/>
                </a:solidFill>
                <a:latin typeface="Helvetica" pitchFamily="2" charset="0"/>
              </a:rPr>
              <a:t>С</a:t>
            </a:r>
            <a:r>
              <a:rPr lang="en-US" sz="2000" b="1" dirty="0" err="1">
                <a:solidFill>
                  <a:prstClr val="black"/>
                </a:solidFill>
                <a:latin typeface="Helvetica" pitchFamily="2" charset="0"/>
              </a:rPr>
              <a:t>oupling</a:t>
            </a:r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of SURMOF poles and optical modes of the silver cavity </a:t>
            </a:r>
            <a:endParaRPr kumimoji="0" lang="en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761D3-9AF2-BA84-EC98-5C5B7EEA3562}"/>
              </a:ext>
            </a:extLst>
          </p:cNvPr>
          <p:cNvSpPr txBox="1"/>
          <p:nvPr/>
        </p:nvSpPr>
        <p:spPr>
          <a:xfrm>
            <a:off x="760557" y="6108400"/>
            <a:ext cx="3592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dirty="0"/>
              <a:t>N=3 optical poles </a:t>
            </a:r>
            <a:br>
              <a:rPr lang="en-RU" dirty="0"/>
            </a:br>
            <a:endParaRPr lang="en-RU" dirty="0"/>
          </a:p>
          <a:p>
            <a:endParaRPr lang="en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1EB5E-38DF-16CE-9BFC-394246C90DD0}"/>
              </a:ext>
            </a:extLst>
          </p:cNvPr>
          <p:cNvSpPr/>
          <p:nvPr/>
        </p:nvSpPr>
        <p:spPr>
          <a:xfrm>
            <a:off x="839299" y="1720850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DB216-96CC-3F25-993D-8A89B47F7F29}"/>
              </a:ext>
            </a:extLst>
          </p:cNvPr>
          <p:cNvSpPr/>
          <p:nvPr/>
        </p:nvSpPr>
        <p:spPr>
          <a:xfrm>
            <a:off x="839299" y="2488749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EE626F-F268-462F-212C-A779D5978108}"/>
              </a:ext>
            </a:extLst>
          </p:cNvPr>
          <p:cNvSpPr/>
          <p:nvPr/>
        </p:nvSpPr>
        <p:spPr>
          <a:xfrm>
            <a:off x="839299" y="1943313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3BDE9C-4478-54E8-4CFE-7E325720E9D6}"/>
              </a:ext>
            </a:extLst>
          </p:cNvPr>
          <p:cNvSpPr txBox="1"/>
          <p:nvPr/>
        </p:nvSpPr>
        <p:spPr>
          <a:xfrm>
            <a:off x="839299" y="1033966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Fabry-perot cavity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3B95A-F3AA-D169-21D4-7DE5DE2D3B02}"/>
              </a:ext>
            </a:extLst>
          </p:cNvPr>
          <p:cNvSpPr txBox="1"/>
          <p:nvPr/>
        </p:nvSpPr>
        <p:spPr>
          <a:xfrm>
            <a:off x="839299" y="1664046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90BDF-09B1-0B7A-DB05-C2BBC3119D39}"/>
              </a:ext>
            </a:extLst>
          </p:cNvPr>
          <p:cNvSpPr txBox="1"/>
          <p:nvPr/>
        </p:nvSpPr>
        <p:spPr>
          <a:xfrm>
            <a:off x="884501" y="2040598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36217-F1E8-3333-4103-27F969387940}"/>
              </a:ext>
            </a:extLst>
          </p:cNvPr>
          <p:cNvSpPr txBox="1"/>
          <p:nvPr/>
        </p:nvSpPr>
        <p:spPr>
          <a:xfrm>
            <a:off x="839299" y="2431198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(no Drude poles)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A3AD0-147C-1AC3-08C4-DE51E827BDB0}"/>
              </a:ext>
            </a:extLst>
          </p:cNvPr>
          <p:cNvSpPr/>
          <p:nvPr/>
        </p:nvSpPr>
        <p:spPr>
          <a:xfrm>
            <a:off x="839299" y="3318438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758B7-EC9B-7468-2046-BA51BEF32BDA}"/>
              </a:ext>
            </a:extLst>
          </p:cNvPr>
          <p:cNvSpPr/>
          <p:nvPr/>
        </p:nvSpPr>
        <p:spPr>
          <a:xfrm>
            <a:off x="839299" y="4086337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5B1108-478E-15DA-3F5B-DCCA711EEAD2}"/>
              </a:ext>
            </a:extLst>
          </p:cNvPr>
          <p:cNvSpPr/>
          <p:nvPr/>
        </p:nvSpPr>
        <p:spPr>
          <a:xfrm>
            <a:off x="839299" y="3540901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2C3A2-C3D5-57A1-631E-50DBEF00AC49}"/>
              </a:ext>
            </a:extLst>
          </p:cNvPr>
          <p:cNvSpPr txBox="1"/>
          <p:nvPr/>
        </p:nvSpPr>
        <p:spPr>
          <a:xfrm>
            <a:off x="839299" y="3261634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14E3BE-22A0-5098-C295-39036503D9B1}"/>
              </a:ext>
            </a:extLst>
          </p:cNvPr>
          <p:cNvSpPr txBox="1"/>
          <p:nvPr/>
        </p:nvSpPr>
        <p:spPr>
          <a:xfrm>
            <a:off x="884501" y="3638186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BDF5C0-317B-FD98-373D-EBAE6D799490}"/>
              </a:ext>
            </a:extLst>
          </p:cNvPr>
          <p:cNvSpPr txBox="1"/>
          <p:nvPr/>
        </p:nvSpPr>
        <p:spPr>
          <a:xfrm>
            <a:off x="839299" y="4028786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6B0C8D8F-AB21-0508-1FCB-55B2EEBCA363}"/>
              </a:ext>
            </a:extLst>
          </p:cNvPr>
          <p:cNvSpPr/>
          <p:nvPr/>
        </p:nvSpPr>
        <p:spPr>
          <a:xfrm rot="5400000">
            <a:off x="2366213" y="2825562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960B58-7317-D505-D506-FC0E0AD65DE7}"/>
              </a:ext>
            </a:extLst>
          </p:cNvPr>
          <p:cNvSpPr/>
          <p:nvPr/>
        </p:nvSpPr>
        <p:spPr>
          <a:xfrm>
            <a:off x="839299" y="4942681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60C93F-1AF0-E160-36BF-C7BFCF93B24C}"/>
              </a:ext>
            </a:extLst>
          </p:cNvPr>
          <p:cNvSpPr/>
          <p:nvPr/>
        </p:nvSpPr>
        <p:spPr>
          <a:xfrm>
            <a:off x="839299" y="5710580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7263A8-FCA7-18CE-7165-9D439FA36DD6}"/>
              </a:ext>
            </a:extLst>
          </p:cNvPr>
          <p:cNvSpPr/>
          <p:nvPr/>
        </p:nvSpPr>
        <p:spPr>
          <a:xfrm>
            <a:off x="839299" y="5165144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533C98-3A5C-33CF-4988-A9717D6C0B19}"/>
              </a:ext>
            </a:extLst>
          </p:cNvPr>
          <p:cNvSpPr txBox="1"/>
          <p:nvPr/>
        </p:nvSpPr>
        <p:spPr>
          <a:xfrm>
            <a:off x="839299" y="4885877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61EFED-2956-B34F-7BB5-E572924A5186}"/>
              </a:ext>
            </a:extLst>
          </p:cNvPr>
          <p:cNvSpPr txBox="1"/>
          <p:nvPr/>
        </p:nvSpPr>
        <p:spPr>
          <a:xfrm>
            <a:off x="884501" y="5262429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(1 mat. pole)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97BF9-3C15-A9B1-148E-6733B044272D}"/>
              </a:ext>
            </a:extLst>
          </p:cNvPr>
          <p:cNvSpPr txBox="1"/>
          <p:nvPr/>
        </p:nvSpPr>
        <p:spPr>
          <a:xfrm>
            <a:off x="839299" y="5653029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E8B3F596-8F0F-F178-05D7-910D26743193}"/>
              </a:ext>
            </a:extLst>
          </p:cNvPr>
          <p:cNvSpPr/>
          <p:nvPr/>
        </p:nvSpPr>
        <p:spPr>
          <a:xfrm rot="5400000">
            <a:off x="2366213" y="4449805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FF05299-E212-9319-59A0-F0A6D0A2FB92}"/>
              </a:ext>
            </a:extLst>
          </p:cNvPr>
          <p:cNvCxnSpPr/>
          <p:nvPr/>
        </p:nvCxnSpPr>
        <p:spPr>
          <a:xfrm>
            <a:off x="10808212" y="4073895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5AFF56-F04B-285E-19DD-A7DD5D6115F4}"/>
              </a:ext>
            </a:extLst>
          </p:cNvPr>
          <p:cNvCxnSpPr/>
          <p:nvPr/>
        </p:nvCxnSpPr>
        <p:spPr>
          <a:xfrm>
            <a:off x="10808212" y="4213452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5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CD8F-4C64-6590-B6AD-4426FD27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69D1F05F-2111-C208-C7F2-E182F71D149F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E5F151-5B3D-B53F-73E5-1145A02D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F6DEB8-35DE-5707-C1B2-1E4141DB65FB}"/>
              </a:ext>
            </a:extLst>
          </p:cNvPr>
          <p:cNvSpPr txBox="1"/>
          <p:nvPr/>
        </p:nvSpPr>
        <p:spPr>
          <a:xfrm>
            <a:off x="1521135" y="217023"/>
            <a:ext cx="10313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sz="2000" b="1" dirty="0">
                <a:solidFill>
                  <a:prstClr val="black"/>
                </a:solidFill>
                <a:latin typeface="Helvetica" pitchFamily="2" charset="0"/>
              </a:rPr>
              <a:t>С</a:t>
            </a:r>
            <a:r>
              <a:rPr lang="en-US" sz="2000" b="1" dirty="0" err="1">
                <a:solidFill>
                  <a:prstClr val="black"/>
                </a:solidFill>
                <a:latin typeface="Helvetica" pitchFamily="2" charset="0"/>
              </a:rPr>
              <a:t>oupling</a:t>
            </a:r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of SURMOF poles and optical modes of the silver cavity </a:t>
            </a:r>
            <a:endParaRPr kumimoji="0" lang="en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15732-08A7-BE40-C049-2071A6A9C4F0}"/>
              </a:ext>
            </a:extLst>
          </p:cNvPr>
          <p:cNvSpPr/>
          <p:nvPr/>
        </p:nvSpPr>
        <p:spPr>
          <a:xfrm>
            <a:off x="2155473" y="137448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182CB-54F9-401F-750F-8BE15E992334}"/>
              </a:ext>
            </a:extLst>
          </p:cNvPr>
          <p:cNvSpPr/>
          <p:nvPr/>
        </p:nvSpPr>
        <p:spPr>
          <a:xfrm>
            <a:off x="2155473" y="2142383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98FE75-421A-9C33-D914-8A9AADFD09D6}"/>
              </a:ext>
            </a:extLst>
          </p:cNvPr>
          <p:cNvSpPr/>
          <p:nvPr/>
        </p:nvSpPr>
        <p:spPr>
          <a:xfrm>
            <a:off x="2155473" y="1596947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1AA8C-5D4A-0DBC-0BCA-33F143A2DA06}"/>
              </a:ext>
            </a:extLst>
          </p:cNvPr>
          <p:cNvSpPr txBox="1"/>
          <p:nvPr/>
        </p:nvSpPr>
        <p:spPr>
          <a:xfrm>
            <a:off x="2155473" y="1317680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B0341-1116-9BCF-A816-902505904E6C}"/>
              </a:ext>
            </a:extLst>
          </p:cNvPr>
          <p:cNvSpPr txBox="1"/>
          <p:nvPr/>
        </p:nvSpPr>
        <p:spPr>
          <a:xfrm>
            <a:off x="2200675" y="1694232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(no mat. poles)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C3611-0F8C-AF83-EAAD-E04C365F23E2}"/>
              </a:ext>
            </a:extLst>
          </p:cNvPr>
          <p:cNvSpPr txBox="1"/>
          <p:nvPr/>
        </p:nvSpPr>
        <p:spPr>
          <a:xfrm>
            <a:off x="2155473" y="2084832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720E4C-BDFC-FAA9-1E04-C98F095B99C7}"/>
              </a:ext>
            </a:extLst>
          </p:cNvPr>
          <p:cNvSpPr/>
          <p:nvPr/>
        </p:nvSpPr>
        <p:spPr>
          <a:xfrm>
            <a:off x="6837222" y="1374484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371C7D-9EFA-A401-3ADD-DD771CB1AF49}"/>
              </a:ext>
            </a:extLst>
          </p:cNvPr>
          <p:cNvSpPr/>
          <p:nvPr/>
        </p:nvSpPr>
        <p:spPr>
          <a:xfrm>
            <a:off x="6837222" y="2142383"/>
            <a:ext cx="3435178" cy="22242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D1FEF0-8B28-3562-AFFD-98B6AC429F92}"/>
              </a:ext>
            </a:extLst>
          </p:cNvPr>
          <p:cNvSpPr/>
          <p:nvPr/>
        </p:nvSpPr>
        <p:spPr>
          <a:xfrm>
            <a:off x="6837222" y="1596947"/>
            <a:ext cx="3435178" cy="545436"/>
          </a:xfrm>
          <a:prstGeom prst="rect">
            <a:avLst/>
          </a:prstGeom>
          <a:solidFill>
            <a:srgbClr val="FEE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6F727-DB13-3CA0-5B40-8AE57CBF29BC}"/>
              </a:ext>
            </a:extLst>
          </p:cNvPr>
          <p:cNvSpPr txBox="1"/>
          <p:nvPr/>
        </p:nvSpPr>
        <p:spPr>
          <a:xfrm>
            <a:off x="6837222" y="1317680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26EFD0-683E-CFD2-7DB7-EA851A2DAAB0}"/>
              </a:ext>
            </a:extLst>
          </p:cNvPr>
          <p:cNvSpPr txBox="1"/>
          <p:nvPr/>
        </p:nvSpPr>
        <p:spPr>
          <a:xfrm>
            <a:off x="6882424" y="1694232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SURMOF (1 mat. pole)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246A52-AC97-D7B1-DA28-0CF818D22274}"/>
              </a:ext>
            </a:extLst>
          </p:cNvPr>
          <p:cNvSpPr txBox="1"/>
          <p:nvPr/>
        </p:nvSpPr>
        <p:spPr>
          <a:xfrm>
            <a:off x="6837222" y="2084832"/>
            <a:ext cx="334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>
                <a:latin typeface="Helvetica" pitchFamily="2" charset="0"/>
              </a:rPr>
              <a:t>SILVER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33BC969-186F-7759-A324-B41D1ADDA9F1}"/>
              </a:ext>
            </a:extLst>
          </p:cNvPr>
          <p:cNvSpPr/>
          <p:nvPr/>
        </p:nvSpPr>
        <p:spPr>
          <a:xfrm>
            <a:off x="6085429" y="1647183"/>
            <a:ext cx="290946" cy="43641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BD1F2D-E577-95C2-AA33-7BB5A6F9F1BD}"/>
                  </a:ext>
                </a:extLst>
              </p:cNvPr>
              <p:cNvSpPr txBox="1"/>
              <p:nvPr/>
            </p:nvSpPr>
            <p:spPr>
              <a:xfrm>
                <a:off x="1948925" y="2558187"/>
                <a:ext cx="3757869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sz="2000" dirty="0">
                    <a:latin typeface="Helvetica" pitchFamily="2" charset="0"/>
                  </a:rPr>
                  <a:t>Matrix </a:t>
                </a:r>
                <a14:m>
                  <m:oMath xmlns:m="http://schemas.openxmlformats.org/officeDocument/2006/math">
                    <m:r>
                      <a:rPr lang="en-RU" sz="2000" b="1" i="0" dirty="0" smtClean="0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sz="2000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sub>
                    </m:sSub>
                    <m:r>
                      <a:rPr lang="en-US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pole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2000" b="1" dirty="0">
                    <a:latin typeface="Helvetica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BD1F2D-E577-95C2-AA33-7BB5A6F9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925" y="2558187"/>
                <a:ext cx="3757869" cy="427618"/>
              </a:xfrm>
              <a:prstGeom prst="rect">
                <a:avLst/>
              </a:prstGeom>
              <a:blipFill>
                <a:blip r:embed="rId3"/>
                <a:stretch>
                  <a:fillRect t="-5714" b="-20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D7F2FF-129A-D56C-E759-00F328A5E70B}"/>
                  </a:ext>
                </a:extLst>
              </p:cNvPr>
              <p:cNvSpPr txBox="1"/>
              <p:nvPr/>
            </p:nvSpPr>
            <p:spPr>
              <a:xfrm>
                <a:off x="6550642" y="2571040"/>
                <a:ext cx="4008338" cy="427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RU" sz="2000" dirty="0">
                    <a:latin typeface="Helvetica" pitchFamily="2" charset="0"/>
                  </a:rPr>
                  <a:t>Matrix </a:t>
                </a:r>
                <a14:m>
                  <m:oMath xmlns:m="http://schemas.openxmlformats.org/officeDocument/2006/math">
                    <m:r>
                      <a:rPr lang="en-RU" sz="2000" b="1" i="0" dirty="0" smtClean="0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b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sz="20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sub>
                    </m:sSub>
                    <m:r>
                      <a:rPr lang="en-US" sz="2000" b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</m:t>
                    </m:r>
                    <m: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pole</m:t>
                    </m:r>
                    <m:r>
                      <a:rPr lang="en-US" sz="2000" b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sz="2000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D7F2FF-129A-D56C-E759-00F328A5E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42" y="2571040"/>
                <a:ext cx="4008338" cy="427618"/>
              </a:xfrm>
              <a:prstGeom prst="rect">
                <a:avLst/>
              </a:prstGeom>
              <a:blipFill>
                <a:blip r:embed="rId4"/>
                <a:stretch>
                  <a:fillRect t="-5714" b="-2000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7B5195-A41A-D493-CC94-B1C9F7C26CDD}"/>
                  </a:ext>
                </a:extLst>
              </p:cNvPr>
              <p:cNvSpPr txBox="1"/>
              <p:nvPr/>
            </p:nvSpPr>
            <p:spPr>
              <a:xfrm>
                <a:off x="2686054" y="3174883"/>
                <a:ext cx="7089696" cy="1489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buAutoNum type="arabicPeriod"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𝐌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𝐖𝐃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b="1" dirty="0"/>
              </a:p>
              <a:p>
                <a:pPr marL="342900" indent="-342900" algn="ctr">
                  <a:buAutoNum type="arabicPeriod"/>
                </a:pPr>
                <a:endParaRPr lang="en-US" b="1" dirty="0"/>
              </a:p>
              <a:p>
                <a:pPr marL="342900" indent="-342900" algn="ctr">
                  <a:buAutoNum type="arabicPeriod"/>
                </a:pPr>
                <a:r>
                  <a:rPr lang="en-RU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𝐌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𝐌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RU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𝐌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𝐖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𝐖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𝐃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RU" dirty="0">
                    <a:latin typeface="Helvetica" pitchFamily="2" charset="0"/>
                  </a:rPr>
                  <a:t>- </a:t>
                </a:r>
                <a:r>
                  <a:rPr lang="en-GB" dirty="0">
                    <a:latin typeface="Helvetica" pitchFamily="2" charset="0"/>
                  </a:rPr>
                  <a:t>this matrix describes the coupling between the optical modes of the silver cavity and the SURMOF pole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77B5195-A41A-D493-CC94-B1C9F7C26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4" y="3174883"/>
                <a:ext cx="7089696" cy="1489767"/>
              </a:xfrm>
              <a:prstGeom prst="rect">
                <a:avLst/>
              </a:prstGeom>
              <a:blipFill>
                <a:blip r:embed="rId5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close-up of a graph&#10;&#10;Description automatically generated">
            <a:extLst>
              <a:ext uri="{FF2B5EF4-FFF2-40B4-BE49-F238E27FC236}">
                <a16:creationId xmlns:a16="http://schemas.microsoft.com/office/drawing/2014/main" id="{84C84F22-43D6-9447-DE9B-1B3D61495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835" y="4593582"/>
            <a:ext cx="9098414" cy="19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1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33832-2F0A-3F0B-4D3F-BA2DCA8E14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1988"/>
                <a:ext cx="10515600" cy="4964975"/>
              </a:xfrm>
            </p:spPr>
            <p:txBody>
              <a:bodyPr/>
              <a:lstStyle/>
              <a:p>
                <a:r>
                  <a:rPr lang="en-US" sz="2200" b="1" dirty="0">
                    <a:latin typeface="Helvetica" pitchFamily="2" charset="0"/>
                  </a:rPr>
                  <a:t>S</a:t>
                </a:r>
                <a:r>
                  <a:rPr lang="en-GB" sz="2200" b="1" dirty="0">
                    <a:latin typeface="Helvetica" pitchFamily="2" charset="0"/>
                  </a:rPr>
                  <a:t>ingle mode approximation: </a:t>
                </a:r>
              </a:p>
              <a:p>
                <a:pPr marL="0" indent="0">
                  <a:buNone/>
                </a:pPr>
                <a:r>
                  <a:rPr lang="en-GB" sz="2200" dirty="0">
                    <a:latin typeface="Helvetica" pitchFamily="2" charset="0"/>
                  </a:rPr>
                  <a:t>Under this approximation, the construction of the matrix </a:t>
                </a:r>
                <a14:m>
                  <m:oMath xmlns:m="http://schemas.openxmlformats.org/officeDocument/2006/math">
                    <m:r>
                      <a:rPr lang="en-GB" sz="2200" b="1" i="0" dirty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GB" sz="2200" dirty="0">
                    <a:latin typeface="Helvetica" pitchFamily="2" charset="0"/>
                  </a:rPr>
                  <a:t> from the RSE is very similar to the Hamiltonian </a:t>
                </a:r>
                <a14:m>
                  <m:oMath xmlns:m="http://schemas.openxmlformats.org/officeDocument/2006/math">
                    <m:r>
                      <a:rPr lang="en-GB" sz="2200" b="1" i="0" dirty="0" smtClean="0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GB" sz="2200" dirty="0">
                    <a:latin typeface="Helvetica" pitchFamily="2" charset="0"/>
                  </a:rPr>
                  <a:t> from the extended coupled oscillator model</a:t>
                </a:r>
                <a:r>
                  <a:rPr lang="en-US" sz="2200" dirty="0">
                    <a:latin typeface="Helvetica" pitchFamily="2" charset="0"/>
                  </a:rPr>
                  <a:t>.</a:t>
                </a:r>
                <a:endParaRPr lang="en-GB" sz="2200" dirty="0">
                  <a:latin typeface="Helvetica" pitchFamily="2" charset="0"/>
                </a:endParaRPr>
              </a:p>
              <a:p>
                <a:endParaRPr lang="en-GB" sz="2200" dirty="0">
                  <a:latin typeface="Helvetica" pitchFamily="2" charset="0"/>
                </a:endParaRPr>
              </a:p>
              <a:p>
                <a:r>
                  <a:rPr lang="en-GB" sz="2200" b="1" dirty="0">
                    <a:latin typeface="Helvetica" pitchFamily="2" charset="0"/>
                  </a:rPr>
                  <a:t>Basis size: </a:t>
                </a:r>
              </a:p>
              <a:p>
                <a:pPr marL="0" indent="0">
                  <a:buNone/>
                </a:pPr>
                <a:r>
                  <a:rPr lang="en-GB" sz="2200" dirty="0">
                    <a:latin typeface="Helvetica" pitchFamily="2" charset="0"/>
                  </a:rPr>
                  <a:t>In practice, including just 10</a:t>
                </a:r>
                <a:r>
                  <a:rPr lang="ru-RU" sz="2200" dirty="0">
                    <a:latin typeface="Helvetica" pitchFamily="2" charset="0"/>
                  </a:rPr>
                  <a:t>-20</a:t>
                </a:r>
                <a:r>
                  <a:rPr lang="en-GB" sz="2200" dirty="0">
                    <a:latin typeface="Helvetica" pitchFamily="2" charset="0"/>
                  </a:rPr>
                  <a:t> resonant states in the RSE expansion is sufficient to achieve accurate results.</a:t>
                </a:r>
              </a:p>
              <a:p>
                <a:pPr marL="0" indent="0">
                  <a:buNone/>
                </a:pPr>
                <a:endParaRPr lang="en-GB" sz="2200" dirty="0">
                  <a:latin typeface="Helvetica" pitchFamily="2" charset="0"/>
                </a:endParaRPr>
              </a:p>
              <a:p>
                <a:r>
                  <a:rPr lang="en-GB" sz="2200" b="1" dirty="0">
                    <a:latin typeface="Helvetica" pitchFamily="2" charset="0"/>
                  </a:rPr>
                  <a:t>SILVER-SURMOF-SILVER  workflow: </a:t>
                </a:r>
              </a:p>
              <a:p>
                <a:pPr marL="0" indent="0">
                  <a:buNone/>
                </a:pPr>
                <a:r>
                  <a:rPr lang="en-GB" sz="2200" dirty="0">
                    <a:latin typeface="Helvetica" pitchFamily="2" charset="0"/>
                  </a:rPr>
                  <a:t>Calculations proceed in three steps: </a:t>
                </a:r>
                <a:r>
                  <a:rPr lang="en-GB" sz="2200" dirty="0">
                    <a:solidFill>
                      <a:srgbClr val="000000"/>
                    </a:solidFill>
                    <a:latin typeface="Helvetica" pitchFamily="2" charset="0"/>
                  </a:rPr>
                  <a:t>b</a:t>
                </a:r>
                <a:r>
                  <a:rPr lang="en-GB" sz="2200" b="0" i="0" u="none" strike="noStrike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are non-dispersive </a:t>
                </a:r>
                <a14:m>
                  <m:oMath xmlns:m="http://schemas.openxmlformats.org/officeDocument/2006/math">
                    <m:r>
                      <a:rPr lang="en-GB" sz="22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200" b="0" i="0" u="none" strike="noStrike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dispersive SILVER </a:t>
                </a:r>
                <a14:m>
                  <m:oMath xmlns:m="http://schemas.openxmlformats.org/officeDocument/2006/math">
                    <m:r>
                      <a:rPr lang="en-GB" sz="22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200" b="0" i="0" u="none" strike="noStrike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coupling to SURMOF poles.</a:t>
                </a:r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33832-2F0A-3F0B-4D3F-BA2DCA8E1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1988"/>
                <a:ext cx="10515600" cy="4964975"/>
              </a:xfrm>
              <a:blipFill>
                <a:blip r:embed="rId2"/>
                <a:stretch>
                  <a:fillRect l="-724" t="-127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2A1FA-0454-DFC2-242B-D17059A5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65C-B8AF-D241-8A3D-950600F7C8F3}" type="slidenum">
              <a:rPr lang="en-RU" smtClean="0"/>
              <a:t>18</a:t>
            </a:fld>
            <a:endParaRPr lang="en-RU"/>
          </a:p>
        </p:txBody>
      </p:sp>
      <p:sp>
        <p:nvSpPr>
          <p:cNvPr id="5" name="Прямоугольник 92">
            <a:extLst>
              <a:ext uri="{FF2B5EF4-FFF2-40B4-BE49-F238E27FC236}">
                <a16:creationId xmlns:a16="http://schemas.microsoft.com/office/drawing/2014/main" id="{406A3750-675C-973A-3E17-418F1AB6252A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560DD-1B90-992E-0CAD-40106D18E378}"/>
              </a:ext>
            </a:extLst>
          </p:cNvPr>
          <p:cNvSpPr txBox="1"/>
          <p:nvPr/>
        </p:nvSpPr>
        <p:spPr>
          <a:xfrm>
            <a:off x="1521135" y="217023"/>
            <a:ext cx="103135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Summary</a:t>
            </a:r>
          </a:p>
          <a:p>
            <a:pPr algn="r">
              <a:defRPr/>
            </a:pPr>
            <a:r>
              <a:rPr lang="en-US" sz="2800" b="1" dirty="0">
                <a:solidFill>
                  <a:prstClr val="black"/>
                </a:solidFill>
                <a:latin typeface="Helvetica" pitchFamily="2" charset="0"/>
              </a:rPr>
              <a:t> </a:t>
            </a:r>
            <a:endParaRPr kumimoji="0" lang="en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054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3DF905-D8DE-07F7-C048-620E340B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92">
            <a:extLst>
              <a:ext uri="{FF2B5EF4-FFF2-40B4-BE49-F238E27FC236}">
                <a16:creationId xmlns:a16="http://schemas.microsoft.com/office/drawing/2014/main" id="{4098D5AD-7362-6BFB-0E29-81D0D36F6941}"/>
              </a:ext>
            </a:extLst>
          </p:cNvPr>
          <p:cNvSpPr txBox="1">
            <a:spLocks/>
          </p:cNvSpPr>
          <p:nvPr/>
        </p:nvSpPr>
        <p:spPr>
          <a:xfrm>
            <a:off x="0" y="-18849"/>
            <a:ext cx="12192000" cy="994965"/>
          </a:xfrm>
          <a:prstGeom prst="rect">
            <a:avLst/>
          </a:prstGeom>
          <a:gradFill>
            <a:gsLst>
              <a:gs pos="0">
                <a:schemeClr val="bg1"/>
              </a:gs>
              <a:gs pos="98000">
                <a:schemeClr val="accent4">
                  <a:alpha val="80000"/>
                </a:schemeClr>
              </a:gs>
            </a:gsLst>
            <a:lin ang="0" scaled="1"/>
          </a:gra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marR="0" indent="0" algn="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j-lt"/>
                <a:ea typeface="+mn-ea"/>
                <a:cs typeface="+mn-cs"/>
                <a:sym typeface="Calibri"/>
              </a:defRPr>
            </a:lvl1pPr>
            <a:lvl2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ctr" defTabSz="13005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l" defTabSz="130054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8E64BF6-C17B-9B08-A995-B20C0280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EC524-A034-0E4F-949E-174AEFF1C77A}" type="slidenum">
              <a:rPr kumimoji="0" lang="en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6D8523-2ECD-9863-FFE5-4F4DE31CBDF1}"/>
              </a:ext>
            </a:extLst>
          </p:cNvPr>
          <p:cNvSpPr txBox="1"/>
          <p:nvPr/>
        </p:nvSpPr>
        <p:spPr>
          <a:xfrm>
            <a:off x="1521135" y="217023"/>
            <a:ext cx="10313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sz="2000" b="1" dirty="0">
                <a:solidFill>
                  <a:prstClr val="black"/>
                </a:solidFill>
                <a:latin typeface="Helvetica" pitchFamily="2" charset="0"/>
              </a:rPr>
              <a:t>С</a:t>
            </a:r>
            <a:r>
              <a:rPr lang="en-US" sz="2000" b="1" dirty="0" err="1">
                <a:solidFill>
                  <a:prstClr val="black"/>
                </a:solidFill>
                <a:latin typeface="Helvetica" pitchFamily="2" charset="0"/>
              </a:rPr>
              <a:t>oupling</a:t>
            </a:r>
            <a:r>
              <a:rPr lang="en-US" sz="2000" b="1" dirty="0">
                <a:solidFill>
                  <a:prstClr val="black"/>
                </a:solidFill>
                <a:latin typeface="Helvetica" pitchFamily="2" charset="0"/>
              </a:rPr>
              <a:t> of SURMOF poles and optical modes of the silver cavity </a:t>
            </a:r>
            <a:endParaRPr kumimoji="0" lang="en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pic>
        <p:nvPicPr>
          <p:cNvPr id="22" name="Picture 21" descr="A graph of 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608F07C9-EC9E-30AE-86E1-757BADBE3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073" y="968819"/>
            <a:ext cx="7958328" cy="56896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E11B70-461D-F682-24B8-99E0F80D0010}"/>
              </a:ext>
            </a:extLst>
          </p:cNvPr>
          <p:cNvCxnSpPr/>
          <p:nvPr/>
        </p:nvCxnSpPr>
        <p:spPr>
          <a:xfrm>
            <a:off x="10818726" y="4042366"/>
            <a:ext cx="18703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3092FD-93A3-386A-79BB-304277D16EA1}"/>
              </a:ext>
            </a:extLst>
          </p:cNvPr>
          <p:cNvCxnSpPr/>
          <p:nvPr/>
        </p:nvCxnSpPr>
        <p:spPr>
          <a:xfrm>
            <a:off x="10818726" y="4223963"/>
            <a:ext cx="187036" cy="0"/>
          </a:xfrm>
          <a:prstGeom prst="line">
            <a:avLst/>
          </a:prstGeom>
          <a:ln w="9525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59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Microsoft Office PowerPoint</Application>
  <PresentationFormat>Breitbild</PresentationFormat>
  <Paragraphs>211</Paragraphs>
  <Slides>19</Slides>
  <Notes>14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Light</vt:lpstr>
      <vt:lpstr>Cambria Math</vt:lpstr>
      <vt:lpstr>Helvetica</vt:lpstr>
      <vt:lpstr>Noto Sans</vt:lpstr>
      <vt:lpstr>Office Theme</vt:lpstr>
      <vt:lpstr>1_Office Theme</vt:lpstr>
      <vt:lpstr>Interaction of material poles and optical poles in different systems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Gladyshev, Sergei</dc:creator>
  <cp:lastModifiedBy>Weiss, Thomas (thomas.weiss@uni-graz.at)</cp:lastModifiedBy>
  <cp:revision>14</cp:revision>
  <cp:lastPrinted>2025-05-05T14:12:48Z</cp:lastPrinted>
  <dcterms:created xsi:type="dcterms:W3CDTF">2025-01-13T15:16:08Z</dcterms:created>
  <dcterms:modified xsi:type="dcterms:W3CDTF">2025-05-07T13:48:09Z</dcterms:modified>
</cp:coreProperties>
</file>